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x="18288000" cy="10287000"/>
  <p:notesSz cx="6858000" cy="9144000"/>
  <p:embeddedFontLst>
    <p:embeddedFont>
      <p:font typeface="Josefin Sans Bold" charset="1" panose="00000800000000000000"/>
      <p:regular r:id="rId33"/>
    </p:embeddedFont>
    <p:embeddedFont>
      <p:font typeface="Josefin Sans" charset="1" panose="00000500000000000000"/>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fonts/font33.fntdata" Type="http://schemas.openxmlformats.org/officeDocument/2006/relationships/font"/><Relationship Id="rId34" Target="fonts/font34.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 Id="rId4" Target="../media/image2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B4B82"/>
        </a:solidFill>
      </p:bgPr>
    </p:bg>
    <p:spTree>
      <p:nvGrpSpPr>
        <p:cNvPr id="1" name=""/>
        <p:cNvGrpSpPr/>
        <p:nvPr/>
      </p:nvGrpSpPr>
      <p:grpSpPr>
        <a:xfrm>
          <a:off x="0" y="0"/>
          <a:ext cx="0" cy="0"/>
          <a:chOff x="0" y="0"/>
          <a:chExt cx="0" cy="0"/>
        </a:xfrm>
      </p:grpSpPr>
      <p:grpSp>
        <p:nvGrpSpPr>
          <p:cNvPr name="Group 2" id="2"/>
          <p:cNvGrpSpPr/>
          <p:nvPr/>
        </p:nvGrpSpPr>
        <p:grpSpPr>
          <a:xfrm rot="0">
            <a:off x="7948001" y="1362245"/>
            <a:ext cx="10071147" cy="7562510"/>
            <a:chOff x="0" y="0"/>
            <a:chExt cx="13428196" cy="10083347"/>
          </a:xfrm>
        </p:grpSpPr>
        <p:sp>
          <p:nvSpPr>
            <p:cNvPr name="TextBox 3" id="3"/>
            <p:cNvSpPr txBox="true"/>
            <p:nvPr/>
          </p:nvSpPr>
          <p:spPr>
            <a:xfrm rot="0">
              <a:off x="0" y="1679214"/>
              <a:ext cx="13428196" cy="4282736"/>
            </a:xfrm>
            <a:prstGeom prst="rect">
              <a:avLst/>
            </a:prstGeom>
          </p:spPr>
          <p:txBody>
            <a:bodyPr anchor="t" rtlCol="false" tIns="0" lIns="0" bIns="0" rIns="0">
              <a:spAutoFit/>
            </a:bodyPr>
            <a:lstStyle/>
            <a:p>
              <a:pPr algn="ctr">
                <a:lnSpc>
                  <a:spcPts val="8372"/>
                </a:lnSpc>
              </a:pPr>
              <a:r>
                <a:rPr lang="en-US" sz="7475" b="true">
                  <a:solidFill>
                    <a:srgbClr val="F7B4A7"/>
                  </a:solidFill>
                  <a:latin typeface="Josefin Sans Bold"/>
                  <a:ea typeface="Josefin Sans Bold"/>
                  <a:cs typeface="Josefin Sans Bold"/>
                  <a:sym typeface="Josefin Sans Bold"/>
                </a:rPr>
                <a:t>NHẬN DIỆN CHỮ SỐ VIẾT TAY VÀ CÁC HÌNH HỌC CƠ BẢN </a:t>
              </a:r>
            </a:p>
          </p:txBody>
        </p:sp>
        <p:sp>
          <p:nvSpPr>
            <p:cNvPr name="TextBox 4" id="4"/>
            <p:cNvSpPr txBox="true"/>
            <p:nvPr/>
          </p:nvSpPr>
          <p:spPr>
            <a:xfrm rot="0">
              <a:off x="0" y="-71755"/>
              <a:ext cx="13428196" cy="544195"/>
            </a:xfrm>
            <a:prstGeom prst="rect">
              <a:avLst/>
            </a:prstGeom>
          </p:spPr>
          <p:txBody>
            <a:bodyPr anchor="t" rtlCol="false" tIns="0" lIns="0" bIns="0" rIns="0">
              <a:spAutoFit/>
            </a:bodyPr>
            <a:lstStyle/>
            <a:p>
              <a:pPr algn="l">
                <a:lnSpc>
                  <a:spcPts val="3359"/>
                </a:lnSpc>
              </a:pPr>
            </a:p>
          </p:txBody>
        </p:sp>
        <p:sp>
          <p:nvSpPr>
            <p:cNvPr name="TextBox 5" id="5"/>
            <p:cNvSpPr txBox="true"/>
            <p:nvPr/>
          </p:nvSpPr>
          <p:spPr>
            <a:xfrm rot="0">
              <a:off x="0" y="6927820"/>
              <a:ext cx="13428196" cy="3161453"/>
            </a:xfrm>
            <a:prstGeom prst="rect">
              <a:avLst/>
            </a:prstGeom>
          </p:spPr>
          <p:txBody>
            <a:bodyPr anchor="t" rtlCol="false" tIns="0" lIns="0" bIns="0" rIns="0">
              <a:spAutoFit/>
            </a:bodyPr>
            <a:lstStyle/>
            <a:p>
              <a:pPr algn="l">
                <a:lnSpc>
                  <a:spcPts val="4759"/>
                </a:lnSpc>
              </a:pPr>
              <a:r>
                <a:rPr lang="en-US" sz="3399">
                  <a:solidFill>
                    <a:srgbClr val="FEFEFE"/>
                  </a:solidFill>
                  <a:latin typeface="Josefin Sans"/>
                  <a:ea typeface="Josefin Sans"/>
                  <a:cs typeface="Josefin Sans"/>
                  <a:sym typeface="Josefin Sans"/>
                </a:rPr>
                <a:t>LỚP XLA_N2 - NHÓM 22</a:t>
              </a:r>
            </a:p>
            <a:p>
              <a:pPr algn="l">
                <a:lnSpc>
                  <a:spcPts val="4759"/>
                </a:lnSpc>
              </a:pPr>
              <a:r>
                <a:rPr lang="en-US" sz="3399">
                  <a:solidFill>
                    <a:srgbClr val="FEFEFE"/>
                  </a:solidFill>
                  <a:latin typeface="Josefin Sans"/>
                  <a:ea typeface="Josefin Sans"/>
                  <a:cs typeface="Josefin Sans"/>
                  <a:sym typeface="Josefin Sans"/>
                </a:rPr>
                <a:t>THÀNH VIÊN: BÙI CÔNG BẮC - B22DCCN073</a:t>
              </a:r>
            </a:p>
            <a:p>
              <a:pPr algn="l">
                <a:lnSpc>
                  <a:spcPts val="4759"/>
                </a:lnSpc>
              </a:pPr>
              <a:r>
                <a:rPr lang="en-US" sz="3399">
                  <a:solidFill>
                    <a:srgbClr val="FEFEFE"/>
                  </a:solidFill>
                  <a:latin typeface="Josefin Sans"/>
                  <a:ea typeface="Josefin Sans"/>
                  <a:cs typeface="Josefin Sans"/>
                  <a:sym typeface="Josefin Sans"/>
                </a:rPr>
                <a:t>                      ĐÀO ĐỨC DUY - B22DCCN1455</a:t>
              </a:r>
            </a:p>
            <a:p>
              <a:pPr algn="l">
                <a:lnSpc>
                  <a:spcPts val="4760"/>
                </a:lnSpc>
              </a:pPr>
            </a:p>
          </p:txBody>
        </p:sp>
      </p:grpSp>
      <p:sp>
        <p:nvSpPr>
          <p:cNvPr name="Freeform 6" id="6"/>
          <p:cNvSpPr/>
          <p:nvPr/>
        </p:nvSpPr>
        <p:spPr>
          <a:xfrm flipH="false" flipV="false" rot="0">
            <a:off x="1182834" y="-1921745"/>
            <a:ext cx="6755642" cy="4114800"/>
          </a:xfrm>
          <a:custGeom>
            <a:avLst/>
            <a:gdLst/>
            <a:ahLst/>
            <a:cxnLst/>
            <a:rect r="r" b="b" t="t" l="l"/>
            <a:pathLst>
              <a:path h="4114800" w="6755642">
                <a:moveTo>
                  <a:pt x="0" y="0"/>
                </a:moveTo>
                <a:lnTo>
                  <a:pt x="6755642" y="0"/>
                </a:lnTo>
                <a:lnTo>
                  <a:pt x="675564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6303834" y="1790711"/>
            <a:ext cx="1194327" cy="2586142"/>
          </a:xfrm>
          <a:custGeom>
            <a:avLst/>
            <a:gdLst/>
            <a:ahLst/>
            <a:cxnLst/>
            <a:rect r="r" b="b" t="t" l="l"/>
            <a:pathLst>
              <a:path h="2586142" w="1194327">
                <a:moveTo>
                  <a:pt x="0" y="0"/>
                </a:moveTo>
                <a:lnTo>
                  <a:pt x="1194327" y="0"/>
                </a:lnTo>
                <a:lnTo>
                  <a:pt x="1194327" y="2586142"/>
                </a:lnTo>
                <a:lnTo>
                  <a:pt x="0" y="25861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false" rot="0">
            <a:off x="2095190" y="2021154"/>
            <a:ext cx="5357753" cy="5591583"/>
          </a:xfrm>
          <a:custGeom>
            <a:avLst/>
            <a:gdLst/>
            <a:ahLst/>
            <a:cxnLst/>
            <a:rect r="r" b="b" t="t" l="l"/>
            <a:pathLst>
              <a:path h="5591583" w="5357753">
                <a:moveTo>
                  <a:pt x="5357753" y="0"/>
                </a:moveTo>
                <a:lnTo>
                  <a:pt x="0" y="0"/>
                </a:lnTo>
                <a:lnTo>
                  <a:pt x="0" y="5591582"/>
                </a:lnTo>
                <a:lnTo>
                  <a:pt x="5357753" y="5591582"/>
                </a:lnTo>
                <a:lnTo>
                  <a:pt x="5357753"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947148" y="1264426"/>
            <a:ext cx="3144039" cy="2440918"/>
          </a:xfrm>
          <a:custGeom>
            <a:avLst/>
            <a:gdLst/>
            <a:ahLst/>
            <a:cxnLst/>
            <a:rect r="r" b="b" t="t" l="l"/>
            <a:pathLst>
              <a:path h="2440918" w="3144039">
                <a:moveTo>
                  <a:pt x="0" y="0"/>
                </a:moveTo>
                <a:lnTo>
                  <a:pt x="3144040" y="0"/>
                </a:lnTo>
                <a:lnTo>
                  <a:pt x="3144040" y="2440918"/>
                </a:lnTo>
                <a:lnTo>
                  <a:pt x="0" y="244091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624872" y="5005800"/>
            <a:ext cx="1894295" cy="4252500"/>
          </a:xfrm>
          <a:custGeom>
            <a:avLst/>
            <a:gdLst/>
            <a:ahLst/>
            <a:cxnLst/>
            <a:rect r="r" b="b" t="t" l="l"/>
            <a:pathLst>
              <a:path h="4252500" w="1894295">
                <a:moveTo>
                  <a:pt x="0" y="0"/>
                </a:moveTo>
                <a:lnTo>
                  <a:pt x="1894295" y="0"/>
                </a:lnTo>
                <a:lnTo>
                  <a:pt x="1894295" y="4252500"/>
                </a:lnTo>
                <a:lnTo>
                  <a:pt x="0" y="42525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4011803" y="7612736"/>
            <a:ext cx="3486358" cy="4114800"/>
          </a:xfrm>
          <a:custGeom>
            <a:avLst/>
            <a:gdLst/>
            <a:ahLst/>
            <a:cxnLst/>
            <a:rect r="r" b="b" t="t" l="l"/>
            <a:pathLst>
              <a:path h="4114800" w="3486358">
                <a:moveTo>
                  <a:pt x="0" y="0"/>
                </a:moveTo>
                <a:lnTo>
                  <a:pt x="3486358" y="0"/>
                </a:lnTo>
                <a:lnTo>
                  <a:pt x="3486358"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p:cSld>
    <p:bg>
      <p:bgPr>
        <a:solidFill>
          <a:srgbClr val="94DDDE"/>
        </a:solidFill>
      </p:bgPr>
    </p:bg>
    <p:spTree>
      <p:nvGrpSpPr>
        <p:cNvPr id="1" name=""/>
        <p:cNvGrpSpPr/>
        <p:nvPr/>
      </p:nvGrpSpPr>
      <p:grpSpPr>
        <a:xfrm>
          <a:off x="0" y="0"/>
          <a:ext cx="0" cy="0"/>
          <a:chOff x="0" y="0"/>
          <a:chExt cx="0" cy="0"/>
        </a:xfrm>
      </p:grpSpPr>
      <p:sp>
        <p:nvSpPr>
          <p:cNvPr name="TextBox 2" id="2"/>
          <p:cNvSpPr txBox="true"/>
          <p:nvPr/>
        </p:nvSpPr>
        <p:spPr>
          <a:xfrm rot="0">
            <a:off x="1028700" y="1009650"/>
            <a:ext cx="16135350" cy="1962150"/>
          </a:xfrm>
          <a:prstGeom prst="rect">
            <a:avLst/>
          </a:prstGeom>
        </p:spPr>
        <p:txBody>
          <a:bodyPr anchor="t" rtlCol="false" tIns="0" lIns="0" bIns="0" rIns="0">
            <a:spAutoFit/>
          </a:bodyPr>
          <a:lstStyle/>
          <a:p>
            <a:pPr algn="ctr">
              <a:lnSpc>
                <a:spcPts val="7680"/>
              </a:lnSpc>
            </a:pPr>
            <a:r>
              <a:rPr lang="en-US" b="true" sz="6400">
                <a:solidFill>
                  <a:srgbClr val="2B4B82"/>
                </a:solidFill>
                <a:latin typeface="Josefin Sans Bold"/>
                <a:ea typeface="Josefin Sans Bold"/>
                <a:cs typeface="Josefin Sans Bold"/>
                <a:sym typeface="Josefin Sans Bold"/>
              </a:rPr>
              <a:t>Nhận diện chữ số viết tay và các hình học cơ bản</a:t>
            </a:r>
          </a:p>
        </p:txBody>
      </p:sp>
      <p:grpSp>
        <p:nvGrpSpPr>
          <p:cNvPr name="Group 3" id="3"/>
          <p:cNvGrpSpPr/>
          <p:nvPr/>
        </p:nvGrpSpPr>
        <p:grpSpPr>
          <a:xfrm rot="0">
            <a:off x="4584432" y="4153055"/>
            <a:ext cx="2401669" cy="1513824"/>
            <a:chOff x="0" y="0"/>
            <a:chExt cx="3202226" cy="2018432"/>
          </a:xfrm>
        </p:grpSpPr>
        <p:sp>
          <p:nvSpPr>
            <p:cNvPr name="TextBox 4" id="4"/>
            <p:cNvSpPr txBox="true"/>
            <p:nvPr/>
          </p:nvSpPr>
          <p:spPr>
            <a:xfrm rot="0">
              <a:off x="0" y="-57150"/>
              <a:ext cx="3202226" cy="626172"/>
            </a:xfrm>
            <a:prstGeom prst="rect">
              <a:avLst/>
            </a:prstGeom>
          </p:spPr>
          <p:txBody>
            <a:bodyPr anchor="t" rtlCol="false" tIns="0" lIns="0" bIns="0" rIns="0">
              <a:spAutoFit/>
            </a:bodyPr>
            <a:lstStyle/>
            <a:p>
              <a:pPr algn="ctr">
                <a:lnSpc>
                  <a:spcPts val="3919"/>
                </a:lnSpc>
              </a:pPr>
              <a:r>
                <a:rPr lang="en-US" b="true" sz="2800" spc="478">
                  <a:solidFill>
                    <a:srgbClr val="2B4B82"/>
                  </a:solidFill>
                  <a:latin typeface="Josefin Sans Bold"/>
                  <a:ea typeface="Josefin Sans Bold"/>
                  <a:cs typeface="Josefin Sans Bold"/>
                  <a:sym typeface="Josefin Sans Bold"/>
                </a:rPr>
                <a:t>BƯỚC</a:t>
              </a:r>
            </a:p>
          </p:txBody>
        </p:sp>
        <p:sp>
          <p:nvSpPr>
            <p:cNvPr name="TextBox 5" id="5"/>
            <p:cNvSpPr txBox="true"/>
            <p:nvPr/>
          </p:nvSpPr>
          <p:spPr>
            <a:xfrm rot="0">
              <a:off x="0" y="906221"/>
              <a:ext cx="3202226" cy="1112211"/>
            </a:xfrm>
            <a:prstGeom prst="rect">
              <a:avLst/>
            </a:prstGeom>
          </p:spPr>
          <p:txBody>
            <a:bodyPr anchor="t" rtlCol="false" tIns="0" lIns="0" bIns="0" rIns="0">
              <a:spAutoFit/>
            </a:bodyPr>
            <a:lstStyle/>
            <a:p>
              <a:pPr algn="ctr">
                <a:lnSpc>
                  <a:spcPts val="3359"/>
                </a:lnSpc>
              </a:pPr>
              <a:r>
                <a:rPr lang="en-US" b="true" sz="2400">
                  <a:solidFill>
                    <a:srgbClr val="2B4B82"/>
                  </a:solidFill>
                  <a:latin typeface="Josefin Sans Bold"/>
                  <a:ea typeface="Josefin Sans Bold"/>
                  <a:cs typeface="Josefin Sans Bold"/>
                  <a:sym typeface="Josefin Sans Bold"/>
                </a:rPr>
                <a:t>Tiền xử lí dữ liệu</a:t>
              </a:r>
            </a:p>
          </p:txBody>
        </p:sp>
      </p:grpSp>
      <p:grpSp>
        <p:nvGrpSpPr>
          <p:cNvPr name="Group 6" id="6"/>
          <p:cNvGrpSpPr/>
          <p:nvPr/>
        </p:nvGrpSpPr>
        <p:grpSpPr>
          <a:xfrm rot="0">
            <a:off x="1123950" y="4153055"/>
            <a:ext cx="2459408" cy="1312616"/>
            <a:chOff x="0" y="0"/>
            <a:chExt cx="3279211" cy="1750154"/>
          </a:xfrm>
        </p:grpSpPr>
        <p:sp>
          <p:nvSpPr>
            <p:cNvPr name="TextBox 7" id="7"/>
            <p:cNvSpPr txBox="true"/>
            <p:nvPr/>
          </p:nvSpPr>
          <p:spPr>
            <a:xfrm rot="0">
              <a:off x="0" y="-57150"/>
              <a:ext cx="3279211" cy="626172"/>
            </a:xfrm>
            <a:prstGeom prst="rect">
              <a:avLst/>
            </a:prstGeom>
          </p:spPr>
          <p:txBody>
            <a:bodyPr anchor="t" rtlCol="false" tIns="0" lIns="0" bIns="0" rIns="0">
              <a:spAutoFit/>
            </a:bodyPr>
            <a:lstStyle/>
            <a:p>
              <a:pPr algn="ctr">
                <a:lnSpc>
                  <a:spcPts val="3919"/>
                </a:lnSpc>
              </a:pPr>
              <a:r>
                <a:rPr lang="en-US" b="true" sz="2799" spc="478">
                  <a:solidFill>
                    <a:srgbClr val="2B4B82"/>
                  </a:solidFill>
                  <a:latin typeface="Josefin Sans Bold"/>
                  <a:ea typeface="Josefin Sans Bold"/>
                  <a:cs typeface="Josefin Sans Bold"/>
                  <a:sym typeface="Josefin Sans Bold"/>
                </a:rPr>
                <a:t>BƯỚC</a:t>
              </a:r>
            </a:p>
          </p:txBody>
        </p:sp>
        <p:sp>
          <p:nvSpPr>
            <p:cNvPr name="TextBox 8" id="8"/>
            <p:cNvSpPr txBox="true"/>
            <p:nvPr/>
          </p:nvSpPr>
          <p:spPr>
            <a:xfrm rot="0">
              <a:off x="0" y="1793100"/>
              <a:ext cx="3279211" cy="469487"/>
            </a:xfrm>
            <a:prstGeom prst="rect">
              <a:avLst/>
            </a:prstGeom>
          </p:spPr>
          <p:txBody>
            <a:bodyPr anchor="t" rtlCol="false" tIns="0" lIns="0" bIns="0" rIns="0">
              <a:spAutoFit/>
            </a:bodyPr>
            <a:lstStyle/>
            <a:p>
              <a:pPr algn="ctr">
                <a:lnSpc>
                  <a:spcPts val="2940"/>
                </a:lnSpc>
              </a:pPr>
            </a:p>
          </p:txBody>
        </p:sp>
        <p:sp>
          <p:nvSpPr>
            <p:cNvPr name="TextBox 9" id="9"/>
            <p:cNvSpPr txBox="true"/>
            <p:nvPr/>
          </p:nvSpPr>
          <p:spPr>
            <a:xfrm rot="0">
              <a:off x="0" y="900631"/>
              <a:ext cx="3279211" cy="548803"/>
            </a:xfrm>
            <a:prstGeom prst="rect">
              <a:avLst/>
            </a:prstGeom>
          </p:spPr>
          <p:txBody>
            <a:bodyPr anchor="t" rtlCol="false" tIns="0" lIns="0" bIns="0" rIns="0">
              <a:spAutoFit/>
            </a:bodyPr>
            <a:lstStyle/>
            <a:p>
              <a:pPr algn="ctr">
                <a:lnSpc>
                  <a:spcPts val="3359"/>
                </a:lnSpc>
              </a:pPr>
              <a:r>
                <a:rPr lang="en-US" b="true" sz="2400">
                  <a:solidFill>
                    <a:srgbClr val="2B4B82"/>
                  </a:solidFill>
                  <a:latin typeface="Josefin Sans Bold"/>
                  <a:ea typeface="Josefin Sans Bold"/>
                  <a:cs typeface="Josefin Sans Bold"/>
                  <a:sym typeface="Josefin Sans Bold"/>
                </a:rPr>
                <a:t>Tải tập dữ liệu</a:t>
              </a:r>
            </a:p>
          </p:txBody>
        </p:sp>
      </p:grpSp>
      <p:grpSp>
        <p:nvGrpSpPr>
          <p:cNvPr name="Group 10" id="10"/>
          <p:cNvGrpSpPr/>
          <p:nvPr/>
        </p:nvGrpSpPr>
        <p:grpSpPr>
          <a:xfrm rot="0">
            <a:off x="7819046" y="4153055"/>
            <a:ext cx="2459408" cy="1513824"/>
            <a:chOff x="0" y="0"/>
            <a:chExt cx="3279211" cy="2018432"/>
          </a:xfrm>
        </p:grpSpPr>
        <p:sp>
          <p:nvSpPr>
            <p:cNvPr name="TextBox 11" id="11"/>
            <p:cNvSpPr txBox="true"/>
            <p:nvPr/>
          </p:nvSpPr>
          <p:spPr>
            <a:xfrm rot="0">
              <a:off x="0" y="-57150"/>
              <a:ext cx="3279211" cy="626172"/>
            </a:xfrm>
            <a:prstGeom prst="rect">
              <a:avLst/>
            </a:prstGeom>
          </p:spPr>
          <p:txBody>
            <a:bodyPr anchor="t" rtlCol="false" tIns="0" lIns="0" bIns="0" rIns="0">
              <a:spAutoFit/>
            </a:bodyPr>
            <a:lstStyle/>
            <a:p>
              <a:pPr algn="ctr">
                <a:lnSpc>
                  <a:spcPts val="3919"/>
                </a:lnSpc>
              </a:pPr>
              <a:r>
                <a:rPr lang="en-US" b="true" sz="2799" spc="478">
                  <a:solidFill>
                    <a:srgbClr val="2B4B82"/>
                  </a:solidFill>
                  <a:latin typeface="Josefin Sans Bold"/>
                  <a:ea typeface="Josefin Sans Bold"/>
                  <a:cs typeface="Josefin Sans Bold"/>
                  <a:sym typeface="Josefin Sans Bold"/>
                </a:rPr>
                <a:t>BƯỚC</a:t>
              </a:r>
            </a:p>
          </p:txBody>
        </p:sp>
        <p:sp>
          <p:nvSpPr>
            <p:cNvPr name="TextBox 12" id="12"/>
            <p:cNvSpPr txBox="true"/>
            <p:nvPr/>
          </p:nvSpPr>
          <p:spPr>
            <a:xfrm rot="0">
              <a:off x="0" y="906221"/>
              <a:ext cx="3279211" cy="1112211"/>
            </a:xfrm>
            <a:prstGeom prst="rect">
              <a:avLst/>
            </a:prstGeom>
          </p:spPr>
          <p:txBody>
            <a:bodyPr anchor="t" rtlCol="false" tIns="0" lIns="0" bIns="0" rIns="0">
              <a:spAutoFit/>
            </a:bodyPr>
            <a:lstStyle/>
            <a:p>
              <a:pPr algn="ctr">
                <a:lnSpc>
                  <a:spcPts val="3359"/>
                </a:lnSpc>
              </a:pPr>
              <a:r>
                <a:rPr lang="en-US" b="true" sz="2400">
                  <a:solidFill>
                    <a:srgbClr val="2B4B82"/>
                  </a:solidFill>
                  <a:latin typeface="Josefin Sans Bold"/>
                  <a:ea typeface="Josefin Sans Bold"/>
                  <a:cs typeface="Josefin Sans Bold"/>
                  <a:sym typeface="Josefin Sans Bold"/>
                </a:rPr>
                <a:t>Xây dựng mô hình CNN</a:t>
              </a:r>
            </a:p>
          </p:txBody>
        </p:sp>
      </p:grpSp>
      <p:grpSp>
        <p:nvGrpSpPr>
          <p:cNvPr name="Group 13" id="13"/>
          <p:cNvGrpSpPr/>
          <p:nvPr/>
        </p:nvGrpSpPr>
        <p:grpSpPr>
          <a:xfrm rot="0">
            <a:off x="11266418" y="4153055"/>
            <a:ext cx="2680634" cy="1936380"/>
            <a:chOff x="0" y="0"/>
            <a:chExt cx="3574179" cy="2581840"/>
          </a:xfrm>
        </p:grpSpPr>
        <p:sp>
          <p:nvSpPr>
            <p:cNvPr name="TextBox 14" id="14"/>
            <p:cNvSpPr txBox="true"/>
            <p:nvPr/>
          </p:nvSpPr>
          <p:spPr>
            <a:xfrm rot="0">
              <a:off x="0" y="-57150"/>
              <a:ext cx="3574179" cy="626172"/>
            </a:xfrm>
            <a:prstGeom prst="rect">
              <a:avLst/>
            </a:prstGeom>
          </p:spPr>
          <p:txBody>
            <a:bodyPr anchor="t" rtlCol="false" tIns="0" lIns="0" bIns="0" rIns="0">
              <a:spAutoFit/>
            </a:bodyPr>
            <a:lstStyle/>
            <a:p>
              <a:pPr algn="ctr">
                <a:lnSpc>
                  <a:spcPts val="3919"/>
                </a:lnSpc>
              </a:pPr>
              <a:r>
                <a:rPr lang="en-US" b="true" sz="2800" spc="478">
                  <a:solidFill>
                    <a:srgbClr val="2B4B82"/>
                  </a:solidFill>
                  <a:latin typeface="Josefin Sans Bold"/>
                  <a:ea typeface="Josefin Sans Bold"/>
                  <a:cs typeface="Josefin Sans Bold"/>
                  <a:sym typeface="Josefin Sans Bold"/>
                </a:rPr>
                <a:t>BƯỚC</a:t>
              </a:r>
            </a:p>
          </p:txBody>
        </p:sp>
        <p:sp>
          <p:nvSpPr>
            <p:cNvPr name="TextBox 15" id="15"/>
            <p:cNvSpPr txBox="true"/>
            <p:nvPr/>
          </p:nvSpPr>
          <p:spPr>
            <a:xfrm rot="0">
              <a:off x="0" y="906221"/>
              <a:ext cx="3574179" cy="1675619"/>
            </a:xfrm>
            <a:prstGeom prst="rect">
              <a:avLst/>
            </a:prstGeom>
          </p:spPr>
          <p:txBody>
            <a:bodyPr anchor="t" rtlCol="false" tIns="0" lIns="0" bIns="0" rIns="0">
              <a:spAutoFit/>
            </a:bodyPr>
            <a:lstStyle/>
            <a:p>
              <a:pPr algn="ctr">
                <a:lnSpc>
                  <a:spcPts val="3359"/>
                </a:lnSpc>
              </a:pPr>
              <a:r>
                <a:rPr lang="en-US" b="true" sz="2400">
                  <a:solidFill>
                    <a:srgbClr val="2B4B82"/>
                  </a:solidFill>
                  <a:latin typeface="Josefin Sans Bold"/>
                  <a:ea typeface="Josefin Sans Bold"/>
                  <a:cs typeface="Josefin Sans Bold"/>
                  <a:sym typeface="Josefin Sans Bold"/>
                </a:rPr>
                <a:t>Train model với data augmentation</a:t>
              </a:r>
            </a:p>
          </p:txBody>
        </p:sp>
      </p:grpSp>
      <p:grpSp>
        <p:nvGrpSpPr>
          <p:cNvPr name="Group 16" id="16"/>
          <p:cNvGrpSpPr/>
          <p:nvPr/>
        </p:nvGrpSpPr>
        <p:grpSpPr>
          <a:xfrm rot="0">
            <a:off x="14704642" y="4153055"/>
            <a:ext cx="2459408" cy="1506912"/>
            <a:chOff x="0" y="0"/>
            <a:chExt cx="3279211" cy="2009216"/>
          </a:xfrm>
        </p:grpSpPr>
        <p:sp>
          <p:nvSpPr>
            <p:cNvPr name="TextBox 17" id="17"/>
            <p:cNvSpPr txBox="true"/>
            <p:nvPr/>
          </p:nvSpPr>
          <p:spPr>
            <a:xfrm rot="0">
              <a:off x="0" y="-57150"/>
              <a:ext cx="3279211" cy="626172"/>
            </a:xfrm>
            <a:prstGeom prst="rect">
              <a:avLst/>
            </a:prstGeom>
          </p:spPr>
          <p:txBody>
            <a:bodyPr anchor="t" rtlCol="false" tIns="0" lIns="0" bIns="0" rIns="0">
              <a:spAutoFit/>
            </a:bodyPr>
            <a:lstStyle/>
            <a:p>
              <a:pPr algn="ctr">
                <a:lnSpc>
                  <a:spcPts val="3919"/>
                </a:lnSpc>
              </a:pPr>
              <a:r>
                <a:rPr lang="en-US" b="true" sz="2799" spc="478">
                  <a:solidFill>
                    <a:srgbClr val="2B4B82"/>
                  </a:solidFill>
                  <a:latin typeface="Josefin Sans Bold"/>
                  <a:ea typeface="Josefin Sans Bold"/>
                  <a:cs typeface="Josefin Sans Bold"/>
                  <a:sym typeface="Josefin Sans Bold"/>
                </a:rPr>
                <a:t>BƯỚC</a:t>
              </a:r>
            </a:p>
          </p:txBody>
        </p:sp>
        <p:sp>
          <p:nvSpPr>
            <p:cNvPr name="TextBox 18" id="18"/>
            <p:cNvSpPr txBox="true"/>
            <p:nvPr/>
          </p:nvSpPr>
          <p:spPr>
            <a:xfrm rot="0">
              <a:off x="0" y="906221"/>
              <a:ext cx="3279211" cy="1102995"/>
            </a:xfrm>
            <a:prstGeom prst="rect">
              <a:avLst/>
            </a:prstGeom>
          </p:spPr>
          <p:txBody>
            <a:bodyPr anchor="t" rtlCol="false" tIns="0" lIns="0" bIns="0" rIns="0">
              <a:spAutoFit/>
            </a:bodyPr>
            <a:lstStyle/>
            <a:p>
              <a:pPr algn="ctr">
                <a:lnSpc>
                  <a:spcPts val="3359"/>
                </a:lnSpc>
              </a:pPr>
              <a:r>
                <a:rPr lang="en-US" b="true" sz="2400">
                  <a:solidFill>
                    <a:srgbClr val="2B4B82"/>
                  </a:solidFill>
                  <a:latin typeface="Josefin Sans Bold"/>
                  <a:ea typeface="Josefin Sans Bold"/>
                  <a:cs typeface="Josefin Sans Bold"/>
                  <a:sym typeface="Josefin Sans Bold"/>
                </a:rPr>
                <a:t>Đánh giá và tổng kết</a:t>
              </a:r>
            </a:p>
          </p:txBody>
        </p:sp>
      </p:grpSp>
      <p:grpSp>
        <p:nvGrpSpPr>
          <p:cNvPr name="Group 19" id="19"/>
          <p:cNvGrpSpPr/>
          <p:nvPr/>
        </p:nvGrpSpPr>
        <p:grpSpPr>
          <a:xfrm rot="0">
            <a:off x="2051969" y="3258915"/>
            <a:ext cx="14021736" cy="669290"/>
            <a:chOff x="0" y="0"/>
            <a:chExt cx="18695648" cy="892387"/>
          </a:xfrm>
        </p:grpSpPr>
        <p:sp>
          <p:nvSpPr>
            <p:cNvPr name="TextBox 20" id="20"/>
            <p:cNvSpPr txBox="true"/>
            <p:nvPr/>
          </p:nvSpPr>
          <p:spPr>
            <a:xfrm rot="0">
              <a:off x="0" y="-104775"/>
              <a:ext cx="804493" cy="998855"/>
            </a:xfrm>
            <a:prstGeom prst="rect">
              <a:avLst/>
            </a:prstGeom>
          </p:spPr>
          <p:txBody>
            <a:bodyPr anchor="t" rtlCol="false" tIns="0" lIns="0" bIns="0" rIns="0">
              <a:spAutoFit/>
            </a:bodyPr>
            <a:lstStyle/>
            <a:p>
              <a:pPr algn="ctr">
                <a:lnSpc>
                  <a:spcPts val="6160"/>
                </a:lnSpc>
              </a:pPr>
              <a:r>
                <a:rPr lang="en-US" b="true" sz="4400" spc="752">
                  <a:solidFill>
                    <a:srgbClr val="2B4B82"/>
                  </a:solidFill>
                  <a:latin typeface="Josefin Sans Bold"/>
                  <a:ea typeface="Josefin Sans Bold"/>
                  <a:cs typeface="Josefin Sans Bold"/>
                  <a:sym typeface="Josefin Sans Bold"/>
                </a:rPr>
                <a:t>1</a:t>
              </a:r>
            </a:p>
          </p:txBody>
        </p:sp>
        <p:sp>
          <p:nvSpPr>
            <p:cNvPr name="TextBox 21" id="21"/>
            <p:cNvSpPr txBox="true"/>
            <p:nvPr/>
          </p:nvSpPr>
          <p:spPr>
            <a:xfrm rot="0">
              <a:off x="4575484" y="-104775"/>
              <a:ext cx="804493" cy="998855"/>
            </a:xfrm>
            <a:prstGeom prst="rect">
              <a:avLst/>
            </a:prstGeom>
          </p:spPr>
          <p:txBody>
            <a:bodyPr anchor="t" rtlCol="false" tIns="0" lIns="0" bIns="0" rIns="0">
              <a:spAutoFit/>
            </a:bodyPr>
            <a:lstStyle/>
            <a:p>
              <a:pPr algn="ctr">
                <a:lnSpc>
                  <a:spcPts val="6160"/>
                </a:lnSpc>
              </a:pPr>
              <a:r>
                <a:rPr lang="en-US" b="true" sz="4400" spc="752">
                  <a:solidFill>
                    <a:srgbClr val="2B4B82"/>
                  </a:solidFill>
                  <a:latin typeface="Josefin Sans Bold"/>
                  <a:ea typeface="Josefin Sans Bold"/>
                  <a:cs typeface="Josefin Sans Bold"/>
                  <a:sym typeface="Josefin Sans Bold"/>
                </a:rPr>
                <a:t>2</a:t>
              </a:r>
            </a:p>
          </p:txBody>
        </p:sp>
        <p:sp>
          <p:nvSpPr>
            <p:cNvPr name="TextBox 22" id="22"/>
            <p:cNvSpPr txBox="true"/>
            <p:nvPr/>
          </p:nvSpPr>
          <p:spPr>
            <a:xfrm rot="0">
              <a:off x="8926794" y="-104775"/>
              <a:ext cx="804493" cy="998855"/>
            </a:xfrm>
            <a:prstGeom prst="rect">
              <a:avLst/>
            </a:prstGeom>
          </p:spPr>
          <p:txBody>
            <a:bodyPr anchor="t" rtlCol="false" tIns="0" lIns="0" bIns="0" rIns="0">
              <a:spAutoFit/>
            </a:bodyPr>
            <a:lstStyle/>
            <a:p>
              <a:pPr algn="ctr">
                <a:lnSpc>
                  <a:spcPts val="6160"/>
                </a:lnSpc>
              </a:pPr>
              <a:r>
                <a:rPr lang="en-US" b="true" sz="4400" spc="752">
                  <a:solidFill>
                    <a:srgbClr val="2B4B82"/>
                  </a:solidFill>
                  <a:latin typeface="Josefin Sans Bold"/>
                  <a:ea typeface="Josefin Sans Bold"/>
                  <a:cs typeface="Josefin Sans Bold"/>
                  <a:sym typeface="Josefin Sans Bold"/>
                </a:rPr>
                <a:t>3</a:t>
              </a:r>
            </a:p>
          </p:txBody>
        </p:sp>
        <p:sp>
          <p:nvSpPr>
            <p:cNvPr name="TextBox 23" id="23"/>
            <p:cNvSpPr txBox="true"/>
            <p:nvPr/>
          </p:nvSpPr>
          <p:spPr>
            <a:xfrm rot="0">
              <a:off x="13670775" y="-104775"/>
              <a:ext cx="804493" cy="998855"/>
            </a:xfrm>
            <a:prstGeom prst="rect">
              <a:avLst/>
            </a:prstGeom>
          </p:spPr>
          <p:txBody>
            <a:bodyPr anchor="t" rtlCol="false" tIns="0" lIns="0" bIns="0" rIns="0">
              <a:spAutoFit/>
            </a:bodyPr>
            <a:lstStyle/>
            <a:p>
              <a:pPr algn="ctr">
                <a:lnSpc>
                  <a:spcPts val="6160"/>
                </a:lnSpc>
              </a:pPr>
              <a:r>
                <a:rPr lang="en-US" b="true" sz="4400" spc="752">
                  <a:solidFill>
                    <a:srgbClr val="2B4B82"/>
                  </a:solidFill>
                  <a:latin typeface="Josefin Sans Bold"/>
                  <a:ea typeface="Josefin Sans Bold"/>
                  <a:cs typeface="Josefin Sans Bold"/>
                  <a:sym typeface="Josefin Sans Bold"/>
                </a:rPr>
                <a:t>4</a:t>
              </a:r>
            </a:p>
          </p:txBody>
        </p:sp>
        <p:sp>
          <p:nvSpPr>
            <p:cNvPr name="TextBox 24" id="24"/>
            <p:cNvSpPr txBox="true"/>
            <p:nvPr/>
          </p:nvSpPr>
          <p:spPr>
            <a:xfrm rot="0">
              <a:off x="17891155" y="-104775"/>
              <a:ext cx="804493" cy="998855"/>
            </a:xfrm>
            <a:prstGeom prst="rect">
              <a:avLst/>
            </a:prstGeom>
          </p:spPr>
          <p:txBody>
            <a:bodyPr anchor="t" rtlCol="false" tIns="0" lIns="0" bIns="0" rIns="0">
              <a:spAutoFit/>
            </a:bodyPr>
            <a:lstStyle/>
            <a:p>
              <a:pPr algn="ctr">
                <a:lnSpc>
                  <a:spcPts val="6160"/>
                </a:lnSpc>
              </a:pPr>
              <a:r>
                <a:rPr lang="en-US" b="true" sz="4400" spc="752">
                  <a:solidFill>
                    <a:srgbClr val="2B4B82"/>
                  </a:solidFill>
                  <a:latin typeface="Josefin Sans Bold"/>
                  <a:ea typeface="Josefin Sans Bold"/>
                  <a:cs typeface="Josefin Sans Bold"/>
                  <a:sym typeface="Josefin Sans Bold"/>
                </a:rPr>
                <a:t>5</a:t>
              </a:r>
            </a:p>
          </p:txBody>
        </p:sp>
        <p:sp>
          <p:nvSpPr>
            <p:cNvPr name="AutoShape 25" id="25"/>
            <p:cNvSpPr/>
            <p:nvPr/>
          </p:nvSpPr>
          <p:spPr>
            <a:xfrm rot="0">
              <a:off x="804493" y="395393"/>
              <a:ext cx="3529461" cy="0"/>
            </a:xfrm>
            <a:prstGeom prst="line">
              <a:avLst/>
            </a:prstGeom>
            <a:ln cap="flat" w="38100">
              <a:solidFill>
                <a:srgbClr val="2B4B82"/>
              </a:solidFill>
              <a:prstDash val="solid"/>
              <a:headEnd type="none" len="sm" w="sm"/>
              <a:tailEnd type="none" len="sm" w="sm"/>
            </a:ln>
          </p:spPr>
        </p:sp>
        <p:sp>
          <p:nvSpPr>
            <p:cNvPr name="AutoShape 26" id="26"/>
            <p:cNvSpPr/>
            <p:nvPr/>
          </p:nvSpPr>
          <p:spPr>
            <a:xfrm rot="0">
              <a:off x="5397334" y="382693"/>
              <a:ext cx="3529461" cy="0"/>
            </a:xfrm>
            <a:prstGeom prst="line">
              <a:avLst/>
            </a:prstGeom>
            <a:ln cap="flat" w="38100">
              <a:solidFill>
                <a:srgbClr val="2B4B82"/>
              </a:solidFill>
              <a:prstDash val="solid"/>
              <a:headEnd type="none" len="sm" w="sm"/>
              <a:tailEnd type="none" len="sm" w="sm"/>
            </a:ln>
          </p:spPr>
        </p:sp>
        <p:sp>
          <p:nvSpPr>
            <p:cNvPr name="AutoShape 27" id="27"/>
            <p:cNvSpPr/>
            <p:nvPr/>
          </p:nvSpPr>
          <p:spPr>
            <a:xfrm rot="0">
              <a:off x="9980379" y="382693"/>
              <a:ext cx="3529461" cy="0"/>
            </a:xfrm>
            <a:prstGeom prst="line">
              <a:avLst/>
            </a:prstGeom>
            <a:ln cap="flat" w="38100">
              <a:solidFill>
                <a:srgbClr val="2B4B82"/>
              </a:solidFill>
              <a:prstDash val="solid"/>
              <a:headEnd type="none" len="sm" w="sm"/>
              <a:tailEnd type="none" len="sm" w="sm"/>
            </a:ln>
          </p:spPr>
        </p:sp>
        <p:sp>
          <p:nvSpPr>
            <p:cNvPr name="AutoShape 28" id="28"/>
            <p:cNvSpPr/>
            <p:nvPr/>
          </p:nvSpPr>
          <p:spPr>
            <a:xfrm rot="0">
              <a:off x="14361695" y="382693"/>
              <a:ext cx="3529461" cy="0"/>
            </a:xfrm>
            <a:prstGeom prst="line">
              <a:avLst/>
            </a:prstGeom>
            <a:ln cap="flat" w="38100">
              <a:solidFill>
                <a:srgbClr val="2B4B82"/>
              </a:solidFill>
              <a:prstDash val="solid"/>
              <a:headEnd type="none" len="sm" w="sm"/>
              <a:tailEnd type="none" len="sm" w="sm"/>
            </a:ln>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94DDDE"/>
        </a:solidFill>
      </p:bgPr>
    </p:bg>
    <p:spTree>
      <p:nvGrpSpPr>
        <p:cNvPr id="1" name=""/>
        <p:cNvGrpSpPr/>
        <p:nvPr/>
      </p:nvGrpSpPr>
      <p:grpSpPr>
        <a:xfrm>
          <a:off x="0" y="0"/>
          <a:ext cx="0" cy="0"/>
          <a:chOff x="0" y="0"/>
          <a:chExt cx="0" cy="0"/>
        </a:xfrm>
      </p:grpSpPr>
      <p:sp>
        <p:nvSpPr>
          <p:cNvPr name="Freeform 2" id="2"/>
          <p:cNvSpPr/>
          <p:nvPr/>
        </p:nvSpPr>
        <p:spPr>
          <a:xfrm flipH="false" flipV="false" rot="0">
            <a:off x="10884366" y="2692252"/>
            <a:ext cx="6670062" cy="4902496"/>
          </a:xfrm>
          <a:custGeom>
            <a:avLst/>
            <a:gdLst/>
            <a:ahLst/>
            <a:cxnLst/>
            <a:rect r="r" b="b" t="t" l="l"/>
            <a:pathLst>
              <a:path h="4902496" w="6670062">
                <a:moveTo>
                  <a:pt x="0" y="0"/>
                </a:moveTo>
                <a:lnTo>
                  <a:pt x="6670062" y="0"/>
                </a:lnTo>
                <a:lnTo>
                  <a:pt x="6670062" y="4902496"/>
                </a:lnTo>
                <a:lnTo>
                  <a:pt x="0" y="4902496"/>
                </a:lnTo>
                <a:lnTo>
                  <a:pt x="0" y="0"/>
                </a:lnTo>
                <a:close/>
              </a:path>
            </a:pathLst>
          </a:custGeom>
          <a:blipFill>
            <a:blip r:embed="rId2"/>
            <a:stretch>
              <a:fillRect l="0" t="0" r="0" b="0"/>
            </a:stretch>
          </a:blipFill>
        </p:spPr>
      </p:sp>
      <p:sp>
        <p:nvSpPr>
          <p:cNvPr name="TextBox 3" id="3"/>
          <p:cNvSpPr txBox="true"/>
          <p:nvPr/>
        </p:nvSpPr>
        <p:spPr>
          <a:xfrm rot="0">
            <a:off x="1028700" y="1701652"/>
            <a:ext cx="9768230" cy="990600"/>
          </a:xfrm>
          <a:prstGeom prst="rect">
            <a:avLst/>
          </a:prstGeom>
        </p:spPr>
        <p:txBody>
          <a:bodyPr anchor="t" rtlCol="false" tIns="0" lIns="0" bIns="0" rIns="0">
            <a:spAutoFit/>
          </a:bodyPr>
          <a:lstStyle/>
          <a:p>
            <a:pPr algn="l">
              <a:lnSpc>
                <a:spcPts val="7680"/>
              </a:lnSpc>
            </a:pPr>
            <a:r>
              <a:rPr lang="en-US" sz="6400">
                <a:solidFill>
                  <a:srgbClr val="31356E"/>
                </a:solidFill>
                <a:latin typeface="Josefin Sans"/>
                <a:ea typeface="Josefin Sans"/>
                <a:cs typeface="Josefin Sans"/>
                <a:sym typeface="Josefin Sans"/>
              </a:rPr>
              <a:t>Tập dữ liệu</a:t>
            </a:r>
          </a:p>
        </p:txBody>
      </p:sp>
      <p:sp>
        <p:nvSpPr>
          <p:cNvPr name="TextBox 4" id="4"/>
          <p:cNvSpPr txBox="true"/>
          <p:nvPr/>
        </p:nvSpPr>
        <p:spPr>
          <a:xfrm rot="0">
            <a:off x="1028700" y="3141940"/>
            <a:ext cx="9768230" cy="3514725"/>
          </a:xfrm>
          <a:prstGeom prst="rect">
            <a:avLst/>
          </a:prstGeom>
        </p:spPr>
        <p:txBody>
          <a:bodyPr anchor="t" rtlCol="false" tIns="0" lIns="0" bIns="0" rIns="0">
            <a:spAutoFit/>
          </a:bodyPr>
          <a:lstStyle/>
          <a:p>
            <a:pPr algn="l" marL="626111" indent="-313055" lvl="1">
              <a:lnSpc>
                <a:spcPts val="3480"/>
              </a:lnSpc>
              <a:buFont typeface="Arial"/>
              <a:buChar char="•"/>
            </a:pPr>
            <a:r>
              <a:rPr lang="en-US" sz="2900">
                <a:solidFill>
                  <a:srgbClr val="2B4B82"/>
                </a:solidFill>
                <a:latin typeface="Josefin Sans"/>
                <a:ea typeface="Josefin Sans"/>
                <a:cs typeface="Josefin Sans"/>
                <a:sym typeface="Josefin Sans"/>
              </a:rPr>
              <a:t>Tập dữ liệu MNIST:</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Nội dung: Các chữ số viết tay từ 0 đến 9.</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Số lượng: Tổng cộng 70.000 ảnh.</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Tập huấn luyện (Training set): 60.000 ảnh.</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Tập kiểm tra (Test set): 10.000 ảnh.</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Kích thước: Mỗi ảnh có kích thước 28 x 28 pixels.</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Màu sắc: Ảnh xám (Grayscale)</a:t>
            </a:r>
          </a:p>
          <a:p>
            <a:pPr algn="l">
              <a:lnSpc>
                <a:spcPts val="3480"/>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94DDDE"/>
        </a:solidFill>
      </p:bgPr>
    </p:bg>
    <p:spTree>
      <p:nvGrpSpPr>
        <p:cNvPr id="1" name=""/>
        <p:cNvGrpSpPr/>
        <p:nvPr/>
      </p:nvGrpSpPr>
      <p:grpSpPr>
        <a:xfrm>
          <a:off x="0" y="0"/>
          <a:ext cx="0" cy="0"/>
          <a:chOff x="0" y="0"/>
          <a:chExt cx="0" cy="0"/>
        </a:xfrm>
      </p:grpSpPr>
      <p:sp>
        <p:nvSpPr>
          <p:cNvPr name="Freeform 2" id="2"/>
          <p:cNvSpPr/>
          <p:nvPr/>
        </p:nvSpPr>
        <p:spPr>
          <a:xfrm flipH="false" flipV="false" rot="0">
            <a:off x="10796930" y="2187996"/>
            <a:ext cx="6148688" cy="5911007"/>
          </a:xfrm>
          <a:custGeom>
            <a:avLst/>
            <a:gdLst/>
            <a:ahLst/>
            <a:cxnLst/>
            <a:rect r="r" b="b" t="t" l="l"/>
            <a:pathLst>
              <a:path h="5911007" w="6148688">
                <a:moveTo>
                  <a:pt x="0" y="0"/>
                </a:moveTo>
                <a:lnTo>
                  <a:pt x="6148687" y="0"/>
                </a:lnTo>
                <a:lnTo>
                  <a:pt x="6148687" y="5911008"/>
                </a:lnTo>
                <a:lnTo>
                  <a:pt x="0" y="5911008"/>
                </a:lnTo>
                <a:lnTo>
                  <a:pt x="0" y="0"/>
                </a:lnTo>
                <a:close/>
              </a:path>
            </a:pathLst>
          </a:custGeom>
          <a:blipFill>
            <a:blip r:embed="rId2"/>
            <a:stretch>
              <a:fillRect l="0" t="0" r="0" b="0"/>
            </a:stretch>
          </a:blipFill>
        </p:spPr>
      </p:sp>
      <p:sp>
        <p:nvSpPr>
          <p:cNvPr name="TextBox 3" id="3"/>
          <p:cNvSpPr txBox="true"/>
          <p:nvPr/>
        </p:nvSpPr>
        <p:spPr>
          <a:xfrm rot="0">
            <a:off x="1028700" y="1683171"/>
            <a:ext cx="9768230" cy="990600"/>
          </a:xfrm>
          <a:prstGeom prst="rect">
            <a:avLst/>
          </a:prstGeom>
        </p:spPr>
        <p:txBody>
          <a:bodyPr anchor="t" rtlCol="false" tIns="0" lIns="0" bIns="0" rIns="0">
            <a:spAutoFit/>
          </a:bodyPr>
          <a:lstStyle/>
          <a:p>
            <a:pPr algn="l">
              <a:lnSpc>
                <a:spcPts val="7680"/>
              </a:lnSpc>
            </a:pPr>
            <a:r>
              <a:rPr lang="en-US" sz="6400">
                <a:solidFill>
                  <a:srgbClr val="31356E"/>
                </a:solidFill>
                <a:latin typeface="Josefin Sans"/>
                <a:ea typeface="Josefin Sans"/>
                <a:cs typeface="Josefin Sans"/>
                <a:sym typeface="Josefin Sans"/>
              </a:rPr>
              <a:t>Tập dữ liệu</a:t>
            </a:r>
          </a:p>
        </p:txBody>
      </p:sp>
      <p:sp>
        <p:nvSpPr>
          <p:cNvPr name="TextBox 4" id="4"/>
          <p:cNvSpPr txBox="true"/>
          <p:nvPr/>
        </p:nvSpPr>
        <p:spPr>
          <a:xfrm rot="0">
            <a:off x="1028700" y="2833598"/>
            <a:ext cx="9768230" cy="4829175"/>
          </a:xfrm>
          <a:prstGeom prst="rect">
            <a:avLst/>
          </a:prstGeom>
        </p:spPr>
        <p:txBody>
          <a:bodyPr anchor="t" rtlCol="false" tIns="0" lIns="0" bIns="0" rIns="0">
            <a:spAutoFit/>
          </a:bodyPr>
          <a:lstStyle/>
          <a:p>
            <a:pPr algn="l" marL="626111" indent="-313055" lvl="1">
              <a:lnSpc>
                <a:spcPts val="3480"/>
              </a:lnSpc>
              <a:buFont typeface="Arial"/>
              <a:buChar char="•"/>
            </a:pPr>
            <a:r>
              <a:rPr lang="en-US" sz="2900">
                <a:solidFill>
                  <a:srgbClr val="2B4B82"/>
                </a:solidFill>
                <a:latin typeface="Josefin Sans"/>
                <a:ea typeface="Josefin Sans"/>
                <a:cs typeface="Josefin Sans"/>
                <a:sym typeface="Josefin Sans"/>
              </a:rPr>
              <a:t>Tập dữ liệu Shape</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Không gian đầu vào (Input Shape): 224 x 224 x 3</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Số lượng lớp (Classes): C = 8.</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Danh sách: Circle, Kite, Parallelogram, Square, Rectangle, Rhombus, Trapezoid, Triangle.</a:t>
            </a:r>
          </a:p>
          <a:p>
            <a:pPr algn="l" marL="626111" indent="-313055" lvl="1">
              <a:lnSpc>
                <a:spcPts val="3480"/>
              </a:lnSpc>
              <a:buFont typeface="Arial"/>
              <a:buChar char="•"/>
            </a:pPr>
            <a:r>
              <a:rPr lang="en-US" sz="2900">
                <a:solidFill>
                  <a:srgbClr val="2B4B82"/>
                </a:solidFill>
                <a:latin typeface="Josefin Sans"/>
                <a:ea typeface="Josefin Sans"/>
                <a:cs typeface="Josefin Sans"/>
                <a:sym typeface="Josefin Sans"/>
              </a:rPr>
              <a:t>Phân phối dữ liệu (Data Distribution):</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Training set: 12,000 mẫu (1,500 mẫu/lớp).</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Val</a:t>
            </a:r>
            <a:r>
              <a:rPr lang="en-US" sz="2900">
                <a:solidFill>
                  <a:srgbClr val="2B4B82"/>
                </a:solidFill>
                <a:latin typeface="Josefin Sans"/>
                <a:ea typeface="Josefin Sans"/>
                <a:cs typeface="Josefin Sans"/>
                <a:sym typeface="Josefin Sans"/>
              </a:rPr>
              <a:t>idation set: 4,000 mẫu (500 mẫu/lớp).</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Test</a:t>
            </a:r>
            <a:r>
              <a:rPr lang="en-US" sz="2900">
                <a:solidFill>
                  <a:srgbClr val="2B4B82"/>
                </a:solidFill>
                <a:latin typeface="Josefin Sans"/>
                <a:ea typeface="Josefin Sans"/>
                <a:cs typeface="Josefin Sans"/>
                <a:sym typeface="Josefin Sans"/>
              </a:rPr>
              <a:t> set: 4,000 mẫu (500 mẫu/lớp).</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Tổng cộng: 20,000 mẫu</a:t>
            </a:r>
          </a:p>
          <a:p>
            <a:pPr algn="l">
              <a:lnSpc>
                <a:spcPts val="3480"/>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94DDDE"/>
        </a:solidFill>
      </p:bgPr>
    </p:bg>
    <p:spTree>
      <p:nvGrpSpPr>
        <p:cNvPr id="1" name=""/>
        <p:cNvGrpSpPr/>
        <p:nvPr/>
      </p:nvGrpSpPr>
      <p:grpSpPr>
        <a:xfrm>
          <a:off x="0" y="0"/>
          <a:ext cx="0" cy="0"/>
          <a:chOff x="0" y="0"/>
          <a:chExt cx="0" cy="0"/>
        </a:xfrm>
      </p:grpSpPr>
      <p:sp>
        <p:nvSpPr>
          <p:cNvPr name="Freeform 2" id="2"/>
          <p:cNvSpPr/>
          <p:nvPr/>
        </p:nvSpPr>
        <p:spPr>
          <a:xfrm flipH="false" flipV="false" rot="0">
            <a:off x="9144000" y="3011571"/>
            <a:ext cx="8577682" cy="5854268"/>
          </a:xfrm>
          <a:custGeom>
            <a:avLst/>
            <a:gdLst/>
            <a:ahLst/>
            <a:cxnLst/>
            <a:rect r="r" b="b" t="t" l="l"/>
            <a:pathLst>
              <a:path h="5854268" w="8577682">
                <a:moveTo>
                  <a:pt x="0" y="0"/>
                </a:moveTo>
                <a:lnTo>
                  <a:pt x="8577682" y="0"/>
                </a:lnTo>
                <a:lnTo>
                  <a:pt x="8577682" y="5854268"/>
                </a:lnTo>
                <a:lnTo>
                  <a:pt x="0" y="5854268"/>
                </a:lnTo>
                <a:lnTo>
                  <a:pt x="0" y="0"/>
                </a:lnTo>
                <a:close/>
              </a:path>
            </a:pathLst>
          </a:custGeom>
          <a:blipFill>
            <a:blip r:embed="rId2"/>
            <a:stretch>
              <a:fillRect l="0" t="0" r="0" b="0"/>
            </a:stretch>
          </a:blipFill>
        </p:spPr>
      </p:sp>
      <p:sp>
        <p:nvSpPr>
          <p:cNvPr name="TextBox 3" id="3"/>
          <p:cNvSpPr txBox="true"/>
          <p:nvPr/>
        </p:nvSpPr>
        <p:spPr>
          <a:xfrm rot="0">
            <a:off x="1028700" y="2020971"/>
            <a:ext cx="9768230" cy="990600"/>
          </a:xfrm>
          <a:prstGeom prst="rect">
            <a:avLst/>
          </a:prstGeom>
        </p:spPr>
        <p:txBody>
          <a:bodyPr anchor="t" rtlCol="false" tIns="0" lIns="0" bIns="0" rIns="0">
            <a:spAutoFit/>
          </a:bodyPr>
          <a:lstStyle/>
          <a:p>
            <a:pPr algn="l">
              <a:lnSpc>
                <a:spcPts val="7680"/>
              </a:lnSpc>
            </a:pPr>
            <a:r>
              <a:rPr lang="en-US" sz="6400">
                <a:solidFill>
                  <a:srgbClr val="31356E"/>
                </a:solidFill>
                <a:latin typeface="Josefin Sans"/>
                <a:ea typeface="Josefin Sans"/>
                <a:cs typeface="Josefin Sans"/>
                <a:sym typeface="Josefin Sans"/>
              </a:rPr>
              <a:t>Tiền xử lí dữ liệu</a:t>
            </a:r>
          </a:p>
        </p:txBody>
      </p:sp>
      <p:sp>
        <p:nvSpPr>
          <p:cNvPr name="TextBox 4" id="4"/>
          <p:cNvSpPr txBox="true"/>
          <p:nvPr/>
        </p:nvSpPr>
        <p:spPr>
          <a:xfrm rot="0">
            <a:off x="1028700" y="3361015"/>
            <a:ext cx="7853733" cy="3076575"/>
          </a:xfrm>
          <a:prstGeom prst="rect">
            <a:avLst/>
          </a:prstGeom>
        </p:spPr>
        <p:txBody>
          <a:bodyPr anchor="t" rtlCol="false" tIns="0" lIns="0" bIns="0" rIns="0">
            <a:spAutoFit/>
          </a:bodyPr>
          <a:lstStyle/>
          <a:p>
            <a:pPr algn="l" marL="626111" indent="-313055" lvl="1">
              <a:lnSpc>
                <a:spcPts val="3480"/>
              </a:lnSpc>
              <a:buFont typeface="Arial"/>
              <a:buChar char="•"/>
            </a:pPr>
            <a:r>
              <a:rPr lang="en-US" sz="2900">
                <a:solidFill>
                  <a:srgbClr val="2B4B82"/>
                </a:solidFill>
                <a:latin typeface="Josefin Sans"/>
                <a:ea typeface="Josefin Sans"/>
                <a:cs typeface="Josefin Sans"/>
                <a:sym typeface="Josefin Sans"/>
              </a:rPr>
              <a:t>Các bước tiền xử lí dữ liệu:</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Grayscale conversion</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Otsu threshoding + inversion</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Bounding box detection + cropping</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Square padding + resize 28x28</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Normalization [0, 1]</a:t>
            </a:r>
          </a:p>
          <a:p>
            <a:pPr algn="l">
              <a:lnSpc>
                <a:spcPts val="348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94DDDE"/>
        </a:solidFill>
      </p:bgPr>
    </p:bg>
    <p:spTree>
      <p:nvGrpSpPr>
        <p:cNvPr id="1" name=""/>
        <p:cNvGrpSpPr/>
        <p:nvPr/>
      </p:nvGrpSpPr>
      <p:grpSpPr>
        <a:xfrm>
          <a:off x="0" y="0"/>
          <a:ext cx="0" cy="0"/>
          <a:chOff x="0" y="0"/>
          <a:chExt cx="0" cy="0"/>
        </a:xfrm>
      </p:grpSpPr>
      <p:sp>
        <p:nvSpPr>
          <p:cNvPr name="TextBox 2" id="2"/>
          <p:cNvSpPr txBox="true"/>
          <p:nvPr/>
        </p:nvSpPr>
        <p:spPr>
          <a:xfrm rot="0">
            <a:off x="1028700" y="3361015"/>
            <a:ext cx="7853733" cy="3076575"/>
          </a:xfrm>
          <a:prstGeom prst="rect">
            <a:avLst/>
          </a:prstGeom>
        </p:spPr>
        <p:txBody>
          <a:bodyPr anchor="t" rtlCol="false" tIns="0" lIns="0" bIns="0" rIns="0">
            <a:spAutoFit/>
          </a:bodyPr>
          <a:lstStyle/>
          <a:p>
            <a:pPr algn="l" marL="626111" indent="-313055" lvl="1">
              <a:lnSpc>
                <a:spcPts val="3480"/>
              </a:lnSpc>
              <a:buFont typeface="Arial"/>
              <a:buChar char="•"/>
            </a:pPr>
            <a:r>
              <a:rPr lang="en-US" sz="2900">
                <a:solidFill>
                  <a:srgbClr val="2B4B82"/>
                </a:solidFill>
                <a:latin typeface="Josefin Sans"/>
                <a:ea typeface="Josefin Sans"/>
                <a:cs typeface="Josefin Sans"/>
                <a:sym typeface="Josefin Sans"/>
              </a:rPr>
              <a:t>Grayscale conversion</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Công thức chuẩn: Hàm sử dụng công thức độ chói (Luminance) để phù hợp với cảm nhận của mắt người</a:t>
            </a:r>
          </a:p>
          <a:p>
            <a:pPr algn="l">
              <a:lnSpc>
                <a:spcPts val="3480"/>
              </a:lnSpc>
            </a:pPr>
          </a:p>
          <a:p>
            <a:pPr algn="l">
              <a:lnSpc>
                <a:spcPts val="3480"/>
              </a:lnSpc>
            </a:pPr>
          </a:p>
          <a:p>
            <a:pPr algn="l">
              <a:lnSpc>
                <a:spcPts val="3480"/>
              </a:lnSpc>
            </a:pPr>
          </a:p>
        </p:txBody>
      </p:sp>
      <p:pic>
        <p:nvPicPr>
          <p:cNvPr name="Picture 3" id="3"/>
          <p:cNvPicPr>
            <a:picLocks noChangeAspect="true"/>
          </p:cNvPicPr>
          <p:nvPr/>
        </p:nvPicPr>
        <p:blipFill>
          <a:blip r:embed="rId2"/>
          <a:stretch>
            <a:fillRect/>
          </a:stretch>
        </p:blipFill>
        <p:spPr>
          <a:xfrm rot="0">
            <a:off x="1096166" y="4879656"/>
            <a:ext cx="8169373" cy="1711278"/>
          </a:xfrm>
          <a:prstGeom prst="rect">
            <a:avLst/>
          </a:prstGeom>
        </p:spPr>
      </p:pic>
      <p:sp>
        <p:nvSpPr>
          <p:cNvPr name="Freeform 4" id="4"/>
          <p:cNvSpPr/>
          <p:nvPr/>
        </p:nvSpPr>
        <p:spPr>
          <a:xfrm flipH="false" flipV="false" rot="0">
            <a:off x="9689061" y="2749960"/>
            <a:ext cx="7960894" cy="5970671"/>
          </a:xfrm>
          <a:custGeom>
            <a:avLst/>
            <a:gdLst/>
            <a:ahLst/>
            <a:cxnLst/>
            <a:rect r="r" b="b" t="t" l="l"/>
            <a:pathLst>
              <a:path h="5970671" w="7960894">
                <a:moveTo>
                  <a:pt x="0" y="0"/>
                </a:moveTo>
                <a:lnTo>
                  <a:pt x="7960894" y="0"/>
                </a:lnTo>
                <a:lnTo>
                  <a:pt x="7960894" y="5970671"/>
                </a:lnTo>
                <a:lnTo>
                  <a:pt x="0" y="5970671"/>
                </a:lnTo>
                <a:lnTo>
                  <a:pt x="0" y="0"/>
                </a:lnTo>
                <a:close/>
              </a:path>
            </a:pathLst>
          </a:custGeom>
          <a:blipFill>
            <a:blip r:embed="rId3"/>
            <a:stretch>
              <a:fillRect l="0" t="0" r="0" b="0"/>
            </a:stretch>
          </a:blipFill>
        </p:spPr>
      </p:sp>
      <p:sp>
        <p:nvSpPr>
          <p:cNvPr name="TextBox 5" id="5"/>
          <p:cNvSpPr txBox="true"/>
          <p:nvPr/>
        </p:nvSpPr>
        <p:spPr>
          <a:xfrm rot="0">
            <a:off x="1028700" y="2020971"/>
            <a:ext cx="9768230" cy="990600"/>
          </a:xfrm>
          <a:prstGeom prst="rect">
            <a:avLst/>
          </a:prstGeom>
        </p:spPr>
        <p:txBody>
          <a:bodyPr anchor="t" rtlCol="false" tIns="0" lIns="0" bIns="0" rIns="0">
            <a:spAutoFit/>
          </a:bodyPr>
          <a:lstStyle/>
          <a:p>
            <a:pPr algn="l">
              <a:lnSpc>
                <a:spcPts val="7680"/>
              </a:lnSpc>
            </a:pPr>
            <a:r>
              <a:rPr lang="en-US" sz="6400">
                <a:solidFill>
                  <a:srgbClr val="31356E"/>
                </a:solidFill>
                <a:latin typeface="Josefin Sans"/>
                <a:ea typeface="Josefin Sans"/>
                <a:cs typeface="Josefin Sans"/>
                <a:sym typeface="Josefin Sans"/>
              </a:rPr>
              <a:t>Tiền xử lí dữ liệu</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94DDDE"/>
        </a:solidFill>
      </p:bgPr>
    </p:bg>
    <p:spTree>
      <p:nvGrpSpPr>
        <p:cNvPr id="1" name=""/>
        <p:cNvGrpSpPr/>
        <p:nvPr/>
      </p:nvGrpSpPr>
      <p:grpSpPr>
        <a:xfrm>
          <a:off x="0" y="0"/>
          <a:ext cx="0" cy="0"/>
          <a:chOff x="0" y="0"/>
          <a:chExt cx="0" cy="0"/>
        </a:xfrm>
      </p:grpSpPr>
      <p:sp>
        <p:nvSpPr>
          <p:cNvPr name="TextBox 2" id="2"/>
          <p:cNvSpPr txBox="true"/>
          <p:nvPr/>
        </p:nvSpPr>
        <p:spPr>
          <a:xfrm rot="0">
            <a:off x="1028700" y="2020971"/>
            <a:ext cx="9768230" cy="990600"/>
          </a:xfrm>
          <a:prstGeom prst="rect">
            <a:avLst/>
          </a:prstGeom>
        </p:spPr>
        <p:txBody>
          <a:bodyPr anchor="t" rtlCol="false" tIns="0" lIns="0" bIns="0" rIns="0">
            <a:spAutoFit/>
          </a:bodyPr>
          <a:lstStyle/>
          <a:p>
            <a:pPr algn="l">
              <a:lnSpc>
                <a:spcPts val="7680"/>
              </a:lnSpc>
            </a:pPr>
            <a:r>
              <a:rPr lang="en-US" sz="6400">
                <a:solidFill>
                  <a:srgbClr val="31356E"/>
                </a:solidFill>
                <a:latin typeface="Josefin Sans"/>
                <a:ea typeface="Josefin Sans"/>
                <a:cs typeface="Josefin Sans"/>
                <a:sym typeface="Josefin Sans"/>
              </a:rPr>
              <a:t>Tiền xử lí dữ liệu</a:t>
            </a:r>
          </a:p>
        </p:txBody>
      </p:sp>
      <p:sp>
        <p:nvSpPr>
          <p:cNvPr name="TextBox 3" id="3"/>
          <p:cNvSpPr txBox="true"/>
          <p:nvPr/>
        </p:nvSpPr>
        <p:spPr>
          <a:xfrm rot="0">
            <a:off x="1028700" y="3381375"/>
            <a:ext cx="11410370" cy="3514725"/>
          </a:xfrm>
          <a:prstGeom prst="rect">
            <a:avLst/>
          </a:prstGeom>
        </p:spPr>
        <p:txBody>
          <a:bodyPr anchor="t" rtlCol="false" tIns="0" lIns="0" bIns="0" rIns="0">
            <a:spAutoFit/>
          </a:bodyPr>
          <a:lstStyle/>
          <a:p>
            <a:pPr algn="l" marL="626111" indent="-313055" lvl="1">
              <a:lnSpc>
                <a:spcPts val="3480"/>
              </a:lnSpc>
              <a:buFont typeface="Arial"/>
              <a:buChar char="•"/>
            </a:pPr>
            <a:r>
              <a:rPr lang="en-US" sz="2900">
                <a:solidFill>
                  <a:srgbClr val="2B4B82"/>
                </a:solidFill>
                <a:latin typeface="Josefin Sans"/>
                <a:ea typeface="Josefin Sans"/>
                <a:cs typeface="Josefin Sans"/>
                <a:sym typeface="Josefin Sans"/>
              </a:rPr>
              <a:t>Otsu threshoding + inversion</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Phương pháp Otsu được dùng để tự động tìm ngưỡng (threshold) tối ưu nhằm chuyển đổi một ảnh xám (grayscale) thành ảnh nhị phân (binary - chỉ có đen và trắng).</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Otsu tìm một giá trị ngưỡng t (từ 0 đến 255) thỏa mãn sự khác biệt về độ sáng trung bình giữa nhóm nền và nhóm vật thể phải lớn nhất.</a:t>
            </a:r>
          </a:p>
          <a:p>
            <a:pPr algn="l">
              <a:lnSpc>
                <a:spcPts val="3480"/>
              </a:lnSpc>
            </a:pPr>
          </a:p>
        </p:txBody>
      </p:sp>
      <p:pic>
        <p:nvPicPr>
          <p:cNvPr name="Picture 4" id="4"/>
          <p:cNvPicPr>
            <a:picLocks noChangeAspect="true"/>
          </p:cNvPicPr>
          <p:nvPr/>
        </p:nvPicPr>
        <p:blipFill>
          <a:blip r:embed="rId2"/>
          <a:stretch>
            <a:fillRect/>
          </a:stretch>
        </p:blipFill>
        <p:spPr>
          <a:xfrm rot="0">
            <a:off x="1337726" y="5803656"/>
            <a:ext cx="9738360" cy="2184888"/>
          </a:xfrm>
          <a:prstGeom prst="rect">
            <a:avLst/>
          </a:prstGeom>
        </p:spPr>
      </p:pic>
      <p:sp>
        <p:nvSpPr>
          <p:cNvPr name="TextBox 5" id="5"/>
          <p:cNvSpPr txBox="true"/>
          <p:nvPr/>
        </p:nvSpPr>
        <p:spPr>
          <a:xfrm rot="0">
            <a:off x="1028700" y="7329414"/>
            <a:ext cx="11410370" cy="1323975"/>
          </a:xfrm>
          <a:prstGeom prst="rect">
            <a:avLst/>
          </a:prstGeom>
        </p:spPr>
        <p:txBody>
          <a:bodyPr anchor="t" rtlCol="false" tIns="0" lIns="0" bIns="0" rIns="0">
            <a:spAutoFit/>
          </a:bodyPr>
          <a:lstStyle/>
          <a:p>
            <a:pPr algn="l" marL="626111" indent="-313055" lvl="1">
              <a:lnSpc>
                <a:spcPts val="3480"/>
              </a:lnSpc>
              <a:buFont typeface="Arial"/>
              <a:buChar char="•"/>
            </a:pPr>
            <a:r>
              <a:rPr lang="en-US" sz="2900">
                <a:solidFill>
                  <a:srgbClr val="2B4B82"/>
                </a:solidFill>
                <a:latin typeface="Josefin Sans"/>
                <a:ea typeface="Josefin Sans"/>
                <a:cs typeface="Josefin Sans"/>
                <a:sym typeface="Josefin Sans"/>
              </a:rPr>
              <a:t>Trong đó::</a:t>
            </a:r>
          </a:p>
          <a:p>
            <a:pPr algn="l">
              <a:lnSpc>
                <a:spcPts val="3480"/>
              </a:lnSpc>
            </a:pPr>
          </a:p>
          <a:p>
            <a:pPr algn="l">
              <a:lnSpc>
                <a:spcPts val="3480"/>
              </a:lnSpc>
            </a:pPr>
          </a:p>
        </p:txBody>
      </p:sp>
      <p:pic>
        <p:nvPicPr>
          <p:cNvPr name="Picture 6" id="6"/>
          <p:cNvPicPr>
            <a:picLocks noChangeAspect="true"/>
          </p:cNvPicPr>
          <p:nvPr/>
        </p:nvPicPr>
        <p:blipFill>
          <a:blip r:embed="rId3"/>
          <a:stretch>
            <a:fillRect/>
          </a:stretch>
        </p:blipFill>
        <p:spPr>
          <a:xfrm rot="0">
            <a:off x="1999082" y="7881550"/>
            <a:ext cx="1802090" cy="666627"/>
          </a:xfrm>
          <a:prstGeom prst="rect">
            <a:avLst/>
          </a:prstGeom>
        </p:spPr>
      </p:pic>
      <p:sp>
        <p:nvSpPr>
          <p:cNvPr name="TextBox 7" id="7"/>
          <p:cNvSpPr txBox="true"/>
          <p:nvPr/>
        </p:nvSpPr>
        <p:spPr>
          <a:xfrm rot="0">
            <a:off x="4018135" y="7986263"/>
            <a:ext cx="8700907" cy="447675"/>
          </a:xfrm>
          <a:prstGeom prst="rect">
            <a:avLst/>
          </a:prstGeom>
        </p:spPr>
        <p:txBody>
          <a:bodyPr anchor="t" rtlCol="false" tIns="0" lIns="0" bIns="0" rIns="0">
            <a:spAutoFit/>
          </a:bodyPr>
          <a:lstStyle/>
          <a:p>
            <a:pPr algn="l">
              <a:lnSpc>
                <a:spcPts val="3480"/>
              </a:lnSpc>
            </a:pPr>
            <a:r>
              <a:rPr lang="en-US" sz="2900">
                <a:solidFill>
                  <a:srgbClr val="2B4B82"/>
                </a:solidFill>
                <a:latin typeface="Josefin Sans"/>
                <a:ea typeface="Josefin Sans"/>
                <a:cs typeface="Josefin Sans"/>
                <a:sym typeface="Josefin Sans"/>
              </a:rPr>
              <a:t>Tỉ lệ số điểm ảnh của lớp nền và lớp vật thể</a:t>
            </a:r>
          </a:p>
        </p:txBody>
      </p:sp>
      <p:pic>
        <p:nvPicPr>
          <p:cNvPr name="Picture 8" id="8"/>
          <p:cNvPicPr>
            <a:picLocks noChangeAspect="true"/>
          </p:cNvPicPr>
          <p:nvPr/>
        </p:nvPicPr>
        <p:blipFill>
          <a:blip r:embed="rId4"/>
          <a:stretch>
            <a:fillRect/>
          </a:stretch>
        </p:blipFill>
        <p:spPr>
          <a:xfrm rot="0">
            <a:off x="2173052" y="8494135"/>
            <a:ext cx="1612304" cy="704475"/>
          </a:xfrm>
          <a:prstGeom prst="rect">
            <a:avLst/>
          </a:prstGeom>
        </p:spPr>
      </p:pic>
      <p:sp>
        <p:nvSpPr>
          <p:cNvPr name="TextBox 9" id="9"/>
          <p:cNvSpPr txBox="true"/>
          <p:nvPr/>
        </p:nvSpPr>
        <p:spPr>
          <a:xfrm rot="0">
            <a:off x="4018135" y="8618969"/>
            <a:ext cx="8700907" cy="447675"/>
          </a:xfrm>
          <a:prstGeom prst="rect">
            <a:avLst/>
          </a:prstGeom>
        </p:spPr>
        <p:txBody>
          <a:bodyPr anchor="t" rtlCol="false" tIns="0" lIns="0" bIns="0" rIns="0">
            <a:spAutoFit/>
          </a:bodyPr>
          <a:lstStyle/>
          <a:p>
            <a:pPr algn="l">
              <a:lnSpc>
                <a:spcPts val="3480"/>
              </a:lnSpc>
            </a:pPr>
            <a:r>
              <a:rPr lang="en-US" sz="2900">
                <a:solidFill>
                  <a:srgbClr val="2B4B82"/>
                </a:solidFill>
                <a:latin typeface="Josefin Sans"/>
                <a:ea typeface="Josefin Sans"/>
                <a:cs typeface="Josefin Sans"/>
                <a:sym typeface="Josefin Sans"/>
              </a:rPr>
              <a:t>Độ sáng trung bình của lớp nền và lớp vật thể</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94DDDE"/>
        </a:solidFill>
      </p:bgPr>
    </p:bg>
    <p:spTree>
      <p:nvGrpSpPr>
        <p:cNvPr id="1" name=""/>
        <p:cNvGrpSpPr/>
        <p:nvPr/>
      </p:nvGrpSpPr>
      <p:grpSpPr>
        <a:xfrm>
          <a:off x="0" y="0"/>
          <a:ext cx="0" cy="0"/>
          <a:chOff x="0" y="0"/>
          <a:chExt cx="0" cy="0"/>
        </a:xfrm>
      </p:grpSpPr>
      <p:sp>
        <p:nvSpPr>
          <p:cNvPr name="TextBox 2" id="2"/>
          <p:cNvSpPr txBox="true"/>
          <p:nvPr/>
        </p:nvSpPr>
        <p:spPr>
          <a:xfrm rot="0">
            <a:off x="1028700" y="2020971"/>
            <a:ext cx="9768230" cy="990600"/>
          </a:xfrm>
          <a:prstGeom prst="rect">
            <a:avLst/>
          </a:prstGeom>
        </p:spPr>
        <p:txBody>
          <a:bodyPr anchor="t" rtlCol="false" tIns="0" lIns="0" bIns="0" rIns="0">
            <a:spAutoFit/>
          </a:bodyPr>
          <a:lstStyle/>
          <a:p>
            <a:pPr algn="l">
              <a:lnSpc>
                <a:spcPts val="7680"/>
              </a:lnSpc>
            </a:pPr>
            <a:r>
              <a:rPr lang="en-US" sz="6400">
                <a:solidFill>
                  <a:srgbClr val="31356E"/>
                </a:solidFill>
                <a:latin typeface="Josefin Sans"/>
                <a:ea typeface="Josefin Sans"/>
                <a:cs typeface="Josefin Sans"/>
                <a:sym typeface="Josefin Sans"/>
              </a:rPr>
              <a:t>Tiền xử lí dữ liệu</a:t>
            </a:r>
          </a:p>
        </p:txBody>
      </p:sp>
      <p:sp>
        <p:nvSpPr>
          <p:cNvPr name="TextBox 3" id="3"/>
          <p:cNvSpPr txBox="true"/>
          <p:nvPr/>
        </p:nvSpPr>
        <p:spPr>
          <a:xfrm rot="0">
            <a:off x="1028700" y="3517287"/>
            <a:ext cx="7853733" cy="4829175"/>
          </a:xfrm>
          <a:prstGeom prst="rect">
            <a:avLst/>
          </a:prstGeom>
        </p:spPr>
        <p:txBody>
          <a:bodyPr anchor="t" rtlCol="false" tIns="0" lIns="0" bIns="0" rIns="0">
            <a:spAutoFit/>
          </a:bodyPr>
          <a:lstStyle/>
          <a:p>
            <a:pPr algn="l" marL="626111" indent="-313055" lvl="1">
              <a:lnSpc>
                <a:spcPts val="3480"/>
              </a:lnSpc>
              <a:buFont typeface="Arial"/>
              <a:buChar char="•"/>
            </a:pPr>
            <a:r>
              <a:rPr lang="en-US" sz="2900">
                <a:solidFill>
                  <a:srgbClr val="2B4B82"/>
                </a:solidFill>
                <a:latin typeface="Josefin Sans"/>
                <a:ea typeface="Josefin Sans"/>
                <a:cs typeface="Josefin Sans"/>
                <a:sym typeface="Josefin Sans"/>
              </a:rPr>
              <a:t>Bounding box detection + cropping</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Quét toàn bộ ảnh nhị phân để tìm tọa độ hình chữ nhật nhỏ nhất (x_min, y_min, x_max, y_max) có thể bao trọn tất cả các điểm ảnh màu trắng (vật thể/chữ số).</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Dùng tọa độ trên để cắt (crop) ảnh, vứt bỏ các vùng đen vô nghĩa xung quanh.</a:t>
            </a:r>
          </a:p>
          <a:p>
            <a:pPr algn="l">
              <a:lnSpc>
                <a:spcPts val="3480"/>
              </a:lnSpc>
            </a:pPr>
          </a:p>
          <a:p>
            <a:pPr algn="l">
              <a:lnSpc>
                <a:spcPts val="3480"/>
              </a:lnSpc>
            </a:pPr>
          </a:p>
        </p:txBody>
      </p:sp>
      <p:sp>
        <p:nvSpPr>
          <p:cNvPr name="Freeform 4" id="4"/>
          <p:cNvSpPr/>
          <p:nvPr/>
        </p:nvSpPr>
        <p:spPr>
          <a:xfrm flipH="false" flipV="false" rot="0">
            <a:off x="9144000" y="3011571"/>
            <a:ext cx="8577682" cy="5854268"/>
          </a:xfrm>
          <a:custGeom>
            <a:avLst/>
            <a:gdLst/>
            <a:ahLst/>
            <a:cxnLst/>
            <a:rect r="r" b="b" t="t" l="l"/>
            <a:pathLst>
              <a:path h="5854268" w="8577682">
                <a:moveTo>
                  <a:pt x="0" y="0"/>
                </a:moveTo>
                <a:lnTo>
                  <a:pt x="8577682" y="0"/>
                </a:lnTo>
                <a:lnTo>
                  <a:pt x="8577682" y="5854268"/>
                </a:lnTo>
                <a:lnTo>
                  <a:pt x="0" y="5854268"/>
                </a:lnTo>
                <a:lnTo>
                  <a:pt x="0" y="0"/>
                </a:lnTo>
                <a:close/>
              </a:path>
            </a:pathLst>
          </a:custGeom>
          <a:blipFill>
            <a:blip r:embed="rId2"/>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94DDDE"/>
        </a:solidFill>
      </p:bgPr>
    </p:bg>
    <p:spTree>
      <p:nvGrpSpPr>
        <p:cNvPr id="1" name=""/>
        <p:cNvGrpSpPr/>
        <p:nvPr/>
      </p:nvGrpSpPr>
      <p:grpSpPr>
        <a:xfrm>
          <a:off x="0" y="0"/>
          <a:ext cx="0" cy="0"/>
          <a:chOff x="0" y="0"/>
          <a:chExt cx="0" cy="0"/>
        </a:xfrm>
      </p:grpSpPr>
      <p:sp>
        <p:nvSpPr>
          <p:cNvPr name="Freeform 2" id="2"/>
          <p:cNvSpPr/>
          <p:nvPr/>
        </p:nvSpPr>
        <p:spPr>
          <a:xfrm flipH="false" flipV="false" rot="0">
            <a:off x="9144000" y="3011571"/>
            <a:ext cx="8577682" cy="5854268"/>
          </a:xfrm>
          <a:custGeom>
            <a:avLst/>
            <a:gdLst/>
            <a:ahLst/>
            <a:cxnLst/>
            <a:rect r="r" b="b" t="t" l="l"/>
            <a:pathLst>
              <a:path h="5854268" w="8577682">
                <a:moveTo>
                  <a:pt x="0" y="0"/>
                </a:moveTo>
                <a:lnTo>
                  <a:pt x="8577682" y="0"/>
                </a:lnTo>
                <a:lnTo>
                  <a:pt x="8577682" y="5854268"/>
                </a:lnTo>
                <a:lnTo>
                  <a:pt x="0" y="5854268"/>
                </a:lnTo>
                <a:lnTo>
                  <a:pt x="0" y="0"/>
                </a:lnTo>
                <a:close/>
              </a:path>
            </a:pathLst>
          </a:custGeom>
          <a:blipFill>
            <a:blip r:embed="rId2"/>
            <a:stretch>
              <a:fillRect l="0" t="0" r="0" b="0"/>
            </a:stretch>
          </a:blipFill>
        </p:spPr>
      </p:sp>
      <p:sp>
        <p:nvSpPr>
          <p:cNvPr name="TextBox 3" id="3"/>
          <p:cNvSpPr txBox="true"/>
          <p:nvPr/>
        </p:nvSpPr>
        <p:spPr>
          <a:xfrm rot="0">
            <a:off x="1028700" y="2020971"/>
            <a:ext cx="9768230" cy="990600"/>
          </a:xfrm>
          <a:prstGeom prst="rect">
            <a:avLst/>
          </a:prstGeom>
        </p:spPr>
        <p:txBody>
          <a:bodyPr anchor="t" rtlCol="false" tIns="0" lIns="0" bIns="0" rIns="0">
            <a:spAutoFit/>
          </a:bodyPr>
          <a:lstStyle/>
          <a:p>
            <a:pPr algn="l">
              <a:lnSpc>
                <a:spcPts val="7680"/>
              </a:lnSpc>
            </a:pPr>
            <a:r>
              <a:rPr lang="en-US" sz="6400">
                <a:solidFill>
                  <a:srgbClr val="31356E"/>
                </a:solidFill>
                <a:latin typeface="Josefin Sans"/>
                <a:ea typeface="Josefin Sans"/>
                <a:cs typeface="Josefin Sans"/>
                <a:sym typeface="Josefin Sans"/>
              </a:rPr>
              <a:t>Tiền xử lí dữ liệu</a:t>
            </a:r>
          </a:p>
        </p:txBody>
      </p:sp>
      <p:sp>
        <p:nvSpPr>
          <p:cNvPr name="TextBox 4" id="4"/>
          <p:cNvSpPr txBox="true"/>
          <p:nvPr/>
        </p:nvSpPr>
        <p:spPr>
          <a:xfrm rot="0">
            <a:off x="1028700" y="3361015"/>
            <a:ext cx="7853733" cy="3076575"/>
          </a:xfrm>
          <a:prstGeom prst="rect">
            <a:avLst/>
          </a:prstGeom>
        </p:spPr>
        <p:txBody>
          <a:bodyPr anchor="t" rtlCol="false" tIns="0" lIns="0" bIns="0" rIns="0">
            <a:spAutoFit/>
          </a:bodyPr>
          <a:lstStyle/>
          <a:p>
            <a:pPr algn="l" marL="626111" indent="-313055" lvl="1">
              <a:lnSpc>
                <a:spcPts val="3480"/>
              </a:lnSpc>
              <a:buFont typeface="Arial"/>
              <a:buChar char="•"/>
            </a:pPr>
            <a:r>
              <a:rPr lang="en-US" sz="2900">
                <a:solidFill>
                  <a:srgbClr val="2B4B82"/>
                </a:solidFill>
                <a:latin typeface="Josefin Sans"/>
                <a:ea typeface="Josefin Sans"/>
                <a:cs typeface="Josefin Sans"/>
                <a:sym typeface="Josefin Sans"/>
              </a:rPr>
              <a:t>Square padding + resize 28x28</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Biến ảnh chữ nhật (sau khi crop) thành ảnh vuông bằng cách thêm nền đen vào hai bên (hoặc trên dưới).</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Thu phóng ảnh về kích thước cố định 28x28 pixel.</a:t>
            </a:r>
          </a:p>
          <a:p>
            <a:pPr algn="l">
              <a:lnSpc>
                <a:spcPts val="3480"/>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94DDDE"/>
        </a:solidFill>
      </p:bgPr>
    </p:bg>
    <p:spTree>
      <p:nvGrpSpPr>
        <p:cNvPr id="1" name=""/>
        <p:cNvGrpSpPr/>
        <p:nvPr/>
      </p:nvGrpSpPr>
      <p:grpSpPr>
        <a:xfrm>
          <a:off x="0" y="0"/>
          <a:ext cx="0" cy="0"/>
          <a:chOff x="0" y="0"/>
          <a:chExt cx="0" cy="0"/>
        </a:xfrm>
      </p:grpSpPr>
      <p:sp>
        <p:nvSpPr>
          <p:cNvPr name="Freeform 2" id="2"/>
          <p:cNvSpPr/>
          <p:nvPr/>
        </p:nvSpPr>
        <p:spPr>
          <a:xfrm flipH="false" flipV="false" rot="0">
            <a:off x="9144000" y="3011571"/>
            <a:ext cx="8577682" cy="5854268"/>
          </a:xfrm>
          <a:custGeom>
            <a:avLst/>
            <a:gdLst/>
            <a:ahLst/>
            <a:cxnLst/>
            <a:rect r="r" b="b" t="t" l="l"/>
            <a:pathLst>
              <a:path h="5854268" w="8577682">
                <a:moveTo>
                  <a:pt x="0" y="0"/>
                </a:moveTo>
                <a:lnTo>
                  <a:pt x="8577682" y="0"/>
                </a:lnTo>
                <a:lnTo>
                  <a:pt x="8577682" y="5854268"/>
                </a:lnTo>
                <a:lnTo>
                  <a:pt x="0" y="5854268"/>
                </a:lnTo>
                <a:lnTo>
                  <a:pt x="0" y="0"/>
                </a:lnTo>
                <a:close/>
              </a:path>
            </a:pathLst>
          </a:custGeom>
          <a:blipFill>
            <a:blip r:embed="rId2"/>
            <a:stretch>
              <a:fillRect l="0" t="0" r="0" b="0"/>
            </a:stretch>
          </a:blipFill>
        </p:spPr>
      </p:sp>
      <p:sp>
        <p:nvSpPr>
          <p:cNvPr name="TextBox 3" id="3"/>
          <p:cNvSpPr txBox="true"/>
          <p:nvPr/>
        </p:nvSpPr>
        <p:spPr>
          <a:xfrm rot="0">
            <a:off x="1028700" y="2020971"/>
            <a:ext cx="9768230" cy="990600"/>
          </a:xfrm>
          <a:prstGeom prst="rect">
            <a:avLst/>
          </a:prstGeom>
        </p:spPr>
        <p:txBody>
          <a:bodyPr anchor="t" rtlCol="false" tIns="0" lIns="0" bIns="0" rIns="0">
            <a:spAutoFit/>
          </a:bodyPr>
          <a:lstStyle/>
          <a:p>
            <a:pPr algn="l">
              <a:lnSpc>
                <a:spcPts val="7680"/>
              </a:lnSpc>
            </a:pPr>
            <a:r>
              <a:rPr lang="en-US" sz="6400">
                <a:solidFill>
                  <a:srgbClr val="31356E"/>
                </a:solidFill>
                <a:latin typeface="Josefin Sans"/>
                <a:ea typeface="Josefin Sans"/>
                <a:cs typeface="Josefin Sans"/>
                <a:sym typeface="Josefin Sans"/>
              </a:rPr>
              <a:t>Tiền xử lí dữ liệu</a:t>
            </a:r>
          </a:p>
        </p:txBody>
      </p:sp>
      <p:sp>
        <p:nvSpPr>
          <p:cNvPr name="TextBox 4" id="4"/>
          <p:cNvSpPr txBox="true"/>
          <p:nvPr/>
        </p:nvSpPr>
        <p:spPr>
          <a:xfrm rot="0">
            <a:off x="1028700" y="3738430"/>
            <a:ext cx="7853733" cy="4391025"/>
          </a:xfrm>
          <a:prstGeom prst="rect">
            <a:avLst/>
          </a:prstGeom>
        </p:spPr>
        <p:txBody>
          <a:bodyPr anchor="t" rtlCol="false" tIns="0" lIns="0" bIns="0" rIns="0">
            <a:spAutoFit/>
          </a:bodyPr>
          <a:lstStyle/>
          <a:p>
            <a:pPr algn="l" marL="626111" indent="-313055" lvl="1">
              <a:lnSpc>
                <a:spcPts val="3480"/>
              </a:lnSpc>
              <a:buFont typeface="Arial"/>
              <a:buChar char="•"/>
            </a:pPr>
            <a:r>
              <a:rPr lang="en-US" sz="2900">
                <a:solidFill>
                  <a:srgbClr val="2B4B82"/>
                </a:solidFill>
                <a:latin typeface="Josefin Sans"/>
                <a:ea typeface="Josefin Sans"/>
                <a:cs typeface="Josefin Sans"/>
                <a:sym typeface="Josefin Sans"/>
              </a:rPr>
              <a:t>Normalization [0, 1]</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Chuẩn hóa giá</a:t>
            </a:r>
            <a:r>
              <a:rPr lang="en-US" sz="2900">
                <a:solidFill>
                  <a:srgbClr val="2B4B82"/>
                </a:solidFill>
                <a:latin typeface="Josefin Sans"/>
                <a:ea typeface="Josefin Sans"/>
                <a:cs typeface="Josefin Sans"/>
                <a:sym typeface="Josefin Sans"/>
              </a:rPr>
              <a:t> trị pixel từ phạm vi số nguyên [0, 255] về phạm vi số thực [0.0, 1.0]</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Tăng tốc độ học (Hội tụ nhanh hơn): Các thuật toán tối ưu hóa (như Gradient Descent) hoạt động hiệu quả hơn nhiều với các con số nhỏ (quanh khoảng 0-1) so với các số lớn (0-255).</a:t>
            </a:r>
          </a:p>
          <a:p>
            <a:pPr algn="l">
              <a:lnSpc>
                <a:spcPts val="3480"/>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94DDDE"/>
        </a:solidFill>
      </p:bgPr>
    </p:bg>
    <p:spTree>
      <p:nvGrpSpPr>
        <p:cNvPr id="1" name=""/>
        <p:cNvGrpSpPr/>
        <p:nvPr/>
      </p:nvGrpSpPr>
      <p:grpSpPr>
        <a:xfrm>
          <a:off x="0" y="0"/>
          <a:ext cx="0" cy="0"/>
          <a:chOff x="0" y="0"/>
          <a:chExt cx="0" cy="0"/>
        </a:xfrm>
      </p:grpSpPr>
      <p:sp>
        <p:nvSpPr>
          <p:cNvPr name="Freeform 2" id="2"/>
          <p:cNvSpPr/>
          <p:nvPr/>
        </p:nvSpPr>
        <p:spPr>
          <a:xfrm flipH="false" flipV="false" rot="0">
            <a:off x="9443462" y="3929855"/>
            <a:ext cx="7815838" cy="3023887"/>
          </a:xfrm>
          <a:custGeom>
            <a:avLst/>
            <a:gdLst/>
            <a:ahLst/>
            <a:cxnLst/>
            <a:rect r="r" b="b" t="t" l="l"/>
            <a:pathLst>
              <a:path h="3023887" w="7815838">
                <a:moveTo>
                  <a:pt x="0" y="0"/>
                </a:moveTo>
                <a:lnTo>
                  <a:pt x="7815838" y="0"/>
                </a:lnTo>
                <a:lnTo>
                  <a:pt x="7815838" y="3023887"/>
                </a:lnTo>
                <a:lnTo>
                  <a:pt x="0" y="3023887"/>
                </a:lnTo>
                <a:lnTo>
                  <a:pt x="0" y="0"/>
                </a:lnTo>
                <a:close/>
              </a:path>
            </a:pathLst>
          </a:custGeom>
          <a:blipFill>
            <a:blip r:embed="rId2"/>
            <a:stretch>
              <a:fillRect l="0" t="0" r="0" b="0"/>
            </a:stretch>
          </a:blipFill>
        </p:spPr>
      </p:sp>
      <p:sp>
        <p:nvSpPr>
          <p:cNvPr name="TextBox 3" id="3"/>
          <p:cNvSpPr txBox="true"/>
          <p:nvPr/>
        </p:nvSpPr>
        <p:spPr>
          <a:xfrm rot="0">
            <a:off x="1028700" y="1539104"/>
            <a:ext cx="9768230" cy="990600"/>
          </a:xfrm>
          <a:prstGeom prst="rect">
            <a:avLst/>
          </a:prstGeom>
        </p:spPr>
        <p:txBody>
          <a:bodyPr anchor="t" rtlCol="false" tIns="0" lIns="0" bIns="0" rIns="0">
            <a:spAutoFit/>
          </a:bodyPr>
          <a:lstStyle/>
          <a:p>
            <a:pPr algn="l">
              <a:lnSpc>
                <a:spcPts val="7680"/>
              </a:lnSpc>
            </a:pPr>
            <a:r>
              <a:rPr lang="en-US" sz="6400">
                <a:solidFill>
                  <a:srgbClr val="31356E"/>
                </a:solidFill>
                <a:latin typeface="Josefin Sans"/>
                <a:ea typeface="Josefin Sans"/>
                <a:cs typeface="Josefin Sans"/>
                <a:sym typeface="Josefin Sans"/>
              </a:rPr>
              <a:t>Xây dựng mô hình CNN</a:t>
            </a:r>
          </a:p>
        </p:txBody>
      </p:sp>
      <p:sp>
        <p:nvSpPr>
          <p:cNvPr name="TextBox 4" id="4"/>
          <p:cNvSpPr txBox="true"/>
          <p:nvPr/>
        </p:nvSpPr>
        <p:spPr>
          <a:xfrm rot="0">
            <a:off x="1028700" y="3460599"/>
            <a:ext cx="7853733" cy="3952875"/>
          </a:xfrm>
          <a:prstGeom prst="rect">
            <a:avLst/>
          </a:prstGeom>
        </p:spPr>
        <p:txBody>
          <a:bodyPr anchor="t" rtlCol="false" tIns="0" lIns="0" bIns="0" rIns="0">
            <a:spAutoFit/>
          </a:bodyPr>
          <a:lstStyle/>
          <a:p>
            <a:pPr algn="l" marL="626111" indent="-313055" lvl="1">
              <a:lnSpc>
                <a:spcPts val="3480"/>
              </a:lnSpc>
              <a:buFont typeface="Arial"/>
              <a:buChar char="•"/>
            </a:pPr>
            <a:r>
              <a:rPr lang="en-US" sz="2900">
                <a:solidFill>
                  <a:srgbClr val="2B4B82"/>
                </a:solidFill>
                <a:latin typeface="Josefin Sans"/>
                <a:ea typeface="Josefin Sans"/>
                <a:cs typeface="Josefin Sans"/>
                <a:sym typeface="Josefin Sans"/>
              </a:rPr>
              <a:t>Lớp Conv2D:</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Chức năng: Trích xuất các đặc trưng hình ảnh (features) từ đơn giản đến phức tạp.</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Cơ chế hoạt động: Nó sử dụng các "cửa sổ trượt" (kernel/filter) quét qua toàn bộ bức ảnh.</a:t>
            </a:r>
          </a:p>
          <a:p>
            <a:pPr algn="l">
              <a:lnSpc>
                <a:spcPts val="3480"/>
              </a:lnSpc>
            </a:pPr>
          </a:p>
          <a:p>
            <a:pPr algn="l">
              <a:lnSpc>
                <a:spcPts val="3480"/>
              </a:lnSpc>
            </a:pP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94DDDE"/>
        </a:solidFill>
      </p:bgPr>
    </p:bg>
    <p:spTree>
      <p:nvGrpSpPr>
        <p:cNvPr id="1" name=""/>
        <p:cNvGrpSpPr/>
        <p:nvPr/>
      </p:nvGrpSpPr>
      <p:grpSpPr>
        <a:xfrm>
          <a:off x="0" y="0"/>
          <a:ext cx="0" cy="0"/>
          <a:chOff x="0" y="0"/>
          <a:chExt cx="0" cy="0"/>
        </a:xfrm>
      </p:grpSpPr>
      <p:sp>
        <p:nvSpPr>
          <p:cNvPr name="TextBox 2" id="2"/>
          <p:cNvSpPr txBox="true"/>
          <p:nvPr/>
        </p:nvSpPr>
        <p:spPr>
          <a:xfrm rot="0">
            <a:off x="1028700" y="1539104"/>
            <a:ext cx="9768230" cy="990600"/>
          </a:xfrm>
          <a:prstGeom prst="rect">
            <a:avLst/>
          </a:prstGeom>
        </p:spPr>
        <p:txBody>
          <a:bodyPr anchor="t" rtlCol="false" tIns="0" lIns="0" bIns="0" rIns="0">
            <a:spAutoFit/>
          </a:bodyPr>
          <a:lstStyle/>
          <a:p>
            <a:pPr algn="l">
              <a:lnSpc>
                <a:spcPts val="7680"/>
              </a:lnSpc>
            </a:pPr>
            <a:r>
              <a:rPr lang="en-US" sz="6400">
                <a:solidFill>
                  <a:srgbClr val="31356E"/>
                </a:solidFill>
                <a:latin typeface="Josefin Sans"/>
                <a:ea typeface="Josefin Sans"/>
                <a:cs typeface="Josefin Sans"/>
                <a:sym typeface="Josefin Sans"/>
              </a:rPr>
              <a:t>Xây dựng mô hình CNN</a:t>
            </a:r>
          </a:p>
        </p:txBody>
      </p:sp>
      <p:sp>
        <p:nvSpPr>
          <p:cNvPr name="TextBox 3" id="3"/>
          <p:cNvSpPr txBox="true"/>
          <p:nvPr/>
        </p:nvSpPr>
        <p:spPr>
          <a:xfrm rot="0">
            <a:off x="1028700" y="3241524"/>
            <a:ext cx="7853733" cy="4391025"/>
          </a:xfrm>
          <a:prstGeom prst="rect">
            <a:avLst/>
          </a:prstGeom>
        </p:spPr>
        <p:txBody>
          <a:bodyPr anchor="t" rtlCol="false" tIns="0" lIns="0" bIns="0" rIns="0">
            <a:spAutoFit/>
          </a:bodyPr>
          <a:lstStyle/>
          <a:p>
            <a:pPr algn="l" marL="626111" indent="-313055" lvl="1">
              <a:lnSpc>
                <a:spcPts val="3480"/>
              </a:lnSpc>
              <a:buFont typeface="Arial"/>
              <a:buChar char="•"/>
            </a:pPr>
            <a:r>
              <a:rPr lang="en-US" sz="2900">
                <a:solidFill>
                  <a:srgbClr val="2B4B82"/>
                </a:solidFill>
                <a:latin typeface="Josefin Sans"/>
                <a:ea typeface="Josefin Sans"/>
                <a:cs typeface="Josefin Sans"/>
                <a:sym typeface="Josefin Sans"/>
              </a:rPr>
              <a:t>Lớp Batch Normalization</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Khi dữ liệu đi qua nhiều lớp, phân phối giá trị của nó bị thay đổi liên tục, làm mạng khó học và dễ bị mất ổn định (gradient quá nhỏ hoặc quá lớn).</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BN chuẩn hóa dữ liệu đầu ra của lớp trước đó về dạng phân phối chuẩn (mean ~ 0, variance ~ 1)</a:t>
            </a:r>
          </a:p>
          <a:p>
            <a:pPr algn="l">
              <a:lnSpc>
                <a:spcPts val="3480"/>
              </a:lnSpc>
            </a:pPr>
          </a:p>
          <a:p>
            <a:pPr algn="l">
              <a:lnSpc>
                <a:spcPts val="3480"/>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94DDDE"/>
        </a:solidFill>
      </p:bgPr>
    </p:bg>
    <p:spTree>
      <p:nvGrpSpPr>
        <p:cNvPr id="1" name=""/>
        <p:cNvGrpSpPr/>
        <p:nvPr/>
      </p:nvGrpSpPr>
      <p:grpSpPr>
        <a:xfrm>
          <a:off x="0" y="0"/>
          <a:ext cx="0" cy="0"/>
          <a:chOff x="0" y="0"/>
          <a:chExt cx="0" cy="0"/>
        </a:xfrm>
      </p:grpSpPr>
      <p:sp>
        <p:nvSpPr>
          <p:cNvPr name="Freeform 2" id="2"/>
          <p:cNvSpPr/>
          <p:nvPr/>
        </p:nvSpPr>
        <p:spPr>
          <a:xfrm flipH="false" flipV="false" rot="0">
            <a:off x="9820718" y="3370350"/>
            <a:ext cx="7438582" cy="3546301"/>
          </a:xfrm>
          <a:custGeom>
            <a:avLst/>
            <a:gdLst/>
            <a:ahLst/>
            <a:cxnLst/>
            <a:rect r="r" b="b" t="t" l="l"/>
            <a:pathLst>
              <a:path h="3546301" w="7438582">
                <a:moveTo>
                  <a:pt x="0" y="0"/>
                </a:moveTo>
                <a:lnTo>
                  <a:pt x="7438582" y="0"/>
                </a:lnTo>
                <a:lnTo>
                  <a:pt x="7438582" y="3546300"/>
                </a:lnTo>
                <a:lnTo>
                  <a:pt x="0" y="3546300"/>
                </a:lnTo>
                <a:lnTo>
                  <a:pt x="0" y="0"/>
                </a:lnTo>
                <a:close/>
              </a:path>
            </a:pathLst>
          </a:custGeom>
          <a:blipFill>
            <a:blip r:embed="rId2"/>
            <a:stretch>
              <a:fillRect l="0" t="0" r="0" b="0"/>
            </a:stretch>
          </a:blipFill>
        </p:spPr>
      </p:sp>
      <p:sp>
        <p:nvSpPr>
          <p:cNvPr name="TextBox 3" id="3"/>
          <p:cNvSpPr txBox="true"/>
          <p:nvPr/>
        </p:nvSpPr>
        <p:spPr>
          <a:xfrm rot="0">
            <a:off x="1028700" y="1539104"/>
            <a:ext cx="9768230" cy="990600"/>
          </a:xfrm>
          <a:prstGeom prst="rect">
            <a:avLst/>
          </a:prstGeom>
        </p:spPr>
        <p:txBody>
          <a:bodyPr anchor="t" rtlCol="false" tIns="0" lIns="0" bIns="0" rIns="0">
            <a:spAutoFit/>
          </a:bodyPr>
          <a:lstStyle/>
          <a:p>
            <a:pPr algn="l">
              <a:lnSpc>
                <a:spcPts val="7680"/>
              </a:lnSpc>
            </a:pPr>
            <a:r>
              <a:rPr lang="en-US" sz="6400">
                <a:solidFill>
                  <a:srgbClr val="31356E"/>
                </a:solidFill>
                <a:latin typeface="Josefin Sans"/>
                <a:ea typeface="Josefin Sans"/>
                <a:cs typeface="Josefin Sans"/>
                <a:sym typeface="Josefin Sans"/>
              </a:rPr>
              <a:t>Xây dựng mô hình CNN</a:t>
            </a:r>
          </a:p>
        </p:txBody>
      </p:sp>
      <p:sp>
        <p:nvSpPr>
          <p:cNvPr name="TextBox 4" id="4"/>
          <p:cNvSpPr txBox="true"/>
          <p:nvPr/>
        </p:nvSpPr>
        <p:spPr>
          <a:xfrm rot="0">
            <a:off x="1028700" y="3360825"/>
            <a:ext cx="7853733" cy="4391025"/>
          </a:xfrm>
          <a:prstGeom prst="rect">
            <a:avLst/>
          </a:prstGeom>
        </p:spPr>
        <p:txBody>
          <a:bodyPr anchor="t" rtlCol="false" tIns="0" lIns="0" bIns="0" rIns="0">
            <a:spAutoFit/>
          </a:bodyPr>
          <a:lstStyle/>
          <a:p>
            <a:pPr algn="l" marL="626111" indent="-313055" lvl="1">
              <a:lnSpc>
                <a:spcPts val="3480"/>
              </a:lnSpc>
              <a:buFont typeface="Arial"/>
              <a:buChar char="•"/>
            </a:pPr>
            <a:r>
              <a:rPr lang="en-US" sz="2900">
                <a:solidFill>
                  <a:srgbClr val="2B4B82"/>
                </a:solidFill>
                <a:latin typeface="Josefin Sans"/>
                <a:ea typeface="Josefin Sans"/>
                <a:cs typeface="Josefin Sans"/>
                <a:sym typeface="Josefin Sans"/>
              </a:rPr>
              <a:t>Lớp MaxPooling2D</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Giảm kích thước không gian (chiều rộng, chiều cao) của ảnh nhưng giữ lại đặc trưng quan trọng nhất.</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·Giảm tải tính toán: với pool size 2x2 biến ảnh 28x28 thành 14x14 giúp giảm 75% số lượng phép tính cho lớp sau.</a:t>
            </a:r>
          </a:p>
          <a:p>
            <a:pPr algn="l">
              <a:lnSpc>
                <a:spcPts val="3480"/>
              </a:lnSpc>
            </a:pPr>
          </a:p>
          <a:p>
            <a:pPr algn="l">
              <a:lnSpc>
                <a:spcPts val="3480"/>
              </a:lnSpc>
            </a:pPr>
          </a:p>
          <a:p>
            <a:pPr algn="l">
              <a:lnSpc>
                <a:spcPts val="3480"/>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94DDDE"/>
        </a:solidFill>
      </p:bgPr>
    </p:bg>
    <p:spTree>
      <p:nvGrpSpPr>
        <p:cNvPr id="1" name=""/>
        <p:cNvGrpSpPr/>
        <p:nvPr/>
      </p:nvGrpSpPr>
      <p:grpSpPr>
        <a:xfrm>
          <a:off x="0" y="0"/>
          <a:ext cx="0" cy="0"/>
          <a:chOff x="0" y="0"/>
          <a:chExt cx="0" cy="0"/>
        </a:xfrm>
      </p:grpSpPr>
      <p:sp>
        <p:nvSpPr>
          <p:cNvPr name="Freeform 2" id="2"/>
          <p:cNvSpPr/>
          <p:nvPr/>
        </p:nvSpPr>
        <p:spPr>
          <a:xfrm flipH="false" flipV="false" rot="0">
            <a:off x="11578929" y="3447625"/>
            <a:ext cx="6344983" cy="3680090"/>
          </a:xfrm>
          <a:custGeom>
            <a:avLst/>
            <a:gdLst/>
            <a:ahLst/>
            <a:cxnLst/>
            <a:rect r="r" b="b" t="t" l="l"/>
            <a:pathLst>
              <a:path h="3680090" w="6344983">
                <a:moveTo>
                  <a:pt x="0" y="0"/>
                </a:moveTo>
                <a:lnTo>
                  <a:pt x="6344983" y="0"/>
                </a:lnTo>
                <a:lnTo>
                  <a:pt x="6344983" y="3680090"/>
                </a:lnTo>
                <a:lnTo>
                  <a:pt x="0" y="3680090"/>
                </a:lnTo>
                <a:lnTo>
                  <a:pt x="0" y="0"/>
                </a:lnTo>
                <a:close/>
              </a:path>
            </a:pathLst>
          </a:custGeom>
          <a:blipFill>
            <a:blip r:embed="rId2"/>
            <a:stretch>
              <a:fillRect l="0" t="0" r="0" b="0"/>
            </a:stretch>
          </a:blipFill>
        </p:spPr>
      </p:sp>
      <p:sp>
        <p:nvSpPr>
          <p:cNvPr name="TextBox 3" id="3"/>
          <p:cNvSpPr txBox="true"/>
          <p:nvPr/>
        </p:nvSpPr>
        <p:spPr>
          <a:xfrm rot="0">
            <a:off x="1028700" y="1240805"/>
            <a:ext cx="9768230" cy="990600"/>
          </a:xfrm>
          <a:prstGeom prst="rect">
            <a:avLst/>
          </a:prstGeom>
        </p:spPr>
        <p:txBody>
          <a:bodyPr anchor="t" rtlCol="false" tIns="0" lIns="0" bIns="0" rIns="0">
            <a:spAutoFit/>
          </a:bodyPr>
          <a:lstStyle/>
          <a:p>
            <a:pPr algn="l">
              <a:lnSpc>
                <a:spcPts val="7680"/>
              </a:lnSpc>
            </a:pPr>
            <a:r>
              <a:rPr lang="en-US" sz="6400">
                <a:solidFill>
                  <a:srgbClr val="31356E"/>
                </a:solidFill>
                <a:latin typeface="Josefin Sans"/>
                <a:ea typeface="Josefin Sans"/>
                <a:cs typeface="Josefin Sans"/>
                <a:sym typeface="Josefin Sans"/>
              </a:rPr>
              <a:t>Xây dựng mô hình CNN</a:t>
            </a:r>
          </a:p>
        </p:txBody>
      </p:sp>
      <p:sp>
        <p:nvSpPr>
          <p:cNvPr name="TextBox 4" id="4"/>
          <p:cNvSpPr txBox="true"/>
          <p:nvPr/>
        </p:nvSpPr>
        <p:spPr>
          <a:xfrm rot="0">
            <a:off x="1028700" y="2520179"/>
            <a:ext cx="10400744" cy="7019925"/>
          </a:xfrm>
          <a:prstGeom prst="rect">
            <a:avLst/>
          </a:prstGeom>
        </p:spPr>
        <p:txBody>
          <a:bodyPr anchor="t" rtlCol="false" tIns="0" lIns="0" bIns="0" rIns="0">
            <a:spAutoFit/>
          </a:bodyPr>
          <a:lstStyle/>
          <a:p>
            <a:pPr algn="l" marL="626111" indent="-313055" lvl="1">
              <a:lnSpc>
                <a:spcPts val="3480"/>
              </a:lnSpc>
              <a:buFont typeface="Arial"/>
              <a:buChar char="•"/>
            </a:pPr>
            <a:r>
              <a:rPr lang="en-US" sz="2900">
                <a:solidFill>
                  <a:srgbClr val="2B4B82"/>
                </a:solidFill>
                <a:latin typeface="Josefin Sans"/>
                <a:ea typeface="Josefin Sans"/>
                <a:cs typeface="Josefin Sans"/>
                <a:sym typeface="Josefin Sans"/>
              </a:rPr>
              <a:t>Lớp GlobalAveragePooling2D</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Biến đổi khối dữ liệu 3 chiều (Feature Maps) thành vector 1 chiều bằng cách</a:t>
            </a:r>
            <a:r>
              <a:rPr lang="en-US" sz="2900">
                <a:solidFill>
                  <a:srgbClr val="2B4B82"/>
                </a:solidFill>
                <a:latin typeface="Josefin Sans"/>
                <a:ea typeface="Josefin Sans"/>
                <a:cs typeface="Josefin Sans"/>
                <a:sym typeface="Josefin Sans"/>
              </a:rPr>
              <a:t> tính trung bình cộng các giá trị trong từng bản đồ.</a:t>
            </a:r>
          </a:p>
          <a:p>
            <a:pPr algn="l" marL="626111" indent="-313055" lvl="1">
              <a:lnSpc>
                <a:spcPts val="3480"/>
              </a:lnSpc>
              <a:buFont typeface="Arial"/>
              <a:buChar char="•"/>
            </a:pPr>
            <a:r>
              <a:rPr lang="en-US" sz="2900">
                <a:solidFill>
                  <a:srgbClr val="2B4B82"/>
                </a:solidFill>
                <a:latin typeface="Josefin Sans"/>
                <a:ea typeface="Josefin Sans"/>
                <a:cs typeface="Josefin Sans"/>
                <a:sym typeface="Josefin Sans"/>
              </a:rPr>
              <a:t>Tác dụng::</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Chống Overfitting loại bỏ liên kết thừa so với cách dùng Flatten truyền thống. → Ít tham số hơn à Mô hình khó "học vẹt" hơn.</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Tăng tính bất biến không gian:: Giúp mô hình nhận diện được vật thể (ví dụ: số 5) bất kể nó nằm ở góc trái, góc phải hay chính giữa. GAP chỉ quan tâm "có đặc điểm đó hay không", không quan tâm "nó nằm ở đâu</a:t>
            </a:r>
          </a:p>
          <a:p>
            <a:pPr algn="l">
              <a:lnSpc>
                <a:spcPts val="3480"/>
              </a:lnSpc>
            </a:pPr>
          </a:p>
          <a:p>
            <a:pPr algn="l">
              <a:lnSpc>
                <a:spcPts val="3480"/>
              </a:lnSpc>
            </a:pPr>
          </a:p>
          <a:p>
            <a:pPr algn="l">
              <a:lnSpc>
                <a:spcPts val="3480"/>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94DDDE"/>
        </a:solidFill>
      </p:bgPr>
    </p:bg>
    <p:spTree>
      <p:nvGrpSpPr>
        <p:cNvPr id="1" name=""/>
        <p:cNvGrpSpPr/>
        <p:nvPr/>
      </p:nvGrpSpPr>
      <p:grpSpPr>
        <a:xfrm>
          <a:off x="0" y="0"/>
          <a:ext cx="0" cy="0"/>
          <a:chOff x="0" y="0"/>
          <a:chExt cx="0" cy="0"/>
        </a:xfrm>
      </p:grpSpPr>
      <p:sp>
        <p:nvSpPr>
          <p:cNvPr name="Freeform 2" id="2"/>
          <p:cNvSpPr/>
          <p:nvPr/>
        </p:nvSpPr>
        <p:spPr>
          <a:xfrm flipH="false" flipV="false" rot="0">
            <a:off x="9278370" y="3171825"/>
            <a:ext cx="7980930" cy="4469321"/>
          </a:xfrm>
          <a:custGeom>
            <a:avLst/>
            <a:gdLst/>
            <a:ahLst/>
            <a:cxnLst/>
            <a:rect r="r" b="b" t="t" l="l"/>
            <a:pathLst>
              <a:path h="4469321" w="7980930">
                <a:moveTo>
                  <a:pt x="0" y="0"/>
                </a:moveTo>
                <a:lnTo>
                  <a:pt x="7980930" y="0"/>
                </a:lnTo>
                <a:lnTo>
                  <a:pt x="7980930" y="4469321"/>
                </a:lnTo>
                <a:lnTo>
                  <a:pt x="0" y="4469321"/>
                </a:lnTo>
                <a:lnTo>
                  <a:pt x="0" y="0"/>
                </a:lnTo>
                <a:close/>
              </a:path>
            </a:pathLst>
          </a:custGeom>
          <a:blipFill>
            <a:blip r:embed="rId2"/>
            <a:stretch>
              <a:fillRect l="0" t="0" r="0" b="0"/>
            </a:stretch>
          </a:blipFill>
        </p:spPr>
      </p:sp>
      <p:sp>
        <p:nvSpPr>
          <p:cNvPr name="TextBox 3" id="3"/>
          <p:cNvSpPr txBox="true"/>
          <p:nvPr/>
        </p:nvSpPr>
        <p:spPr>
          <a:xfrm rot="0">
            <a:off x="1028700" y="1240805"/>
            <a:ext cx="9768230" cy="990600"/>
          </a:xfrm>
          <a:prstGeom prst="rect">
            <a:avLst/>
          </a:prstGeom>
        </p:spPr>
        <p:txBody>
          <a:bodyPr anchor="t" rtlCol="false" tIns="0" lIns="0" bIns="0" rIns="0">
            <a:spAutoFit/>
          </a:bodyPr>
          <a:lstStyle/>
          <a:p>
            <a:pPr algn="l">
              <a:lnSpc>
                <a:spcPts val="7680"/>
              </a:lnSpc>
            </a:pPr>
            <a:r>
              <a:rPr lang="en-US" sz="6400">
                <a:solidFill>
                  <a:srgbClr val="31356E"/>
                </a:solidFill>
                <a:latin typeface="Josefin Sans"/>
                <a:ea typeface="Josefin Sans"/>
                <a:cs typeface="Josefin Sans"/>
                <a:sym typeface="Josefin Sans"/>
              </a:rPr>
              <a:t>Xây dựng mô hình CNN</a:t>
            </a:r>
          </a:p>
        </p:txBody>
      </p:sp>
      <p:sp>
        <p:nvSpPr>
          <p:cNvPr name="TextBox 4" id="4"/>
          <p:cNvSpPr txBox="true"/>
          <p:nvPr/>
        </p:nvSpPr>
        <p:spPr>
          <a:xfrm rot="0">
            <a:off x="1028700" y="2768060"/>
            <a:ext cx="8115300" cy="5267325"/>
          </a:xfrm>
          <a:prstGeom prst="rect">
            <a:avLst/>
          </a:prstGeom>
        </p:spPr>
        <p:txBody>
          <a:bodyPr anchor="t" rtlCol="false" tIns="0" lIns="0" bIns="0" rIns="0">
            <a:spAutoFit/>
          </a:bodyPr>
          <a:lstStyle/>
          <a:p>
            <a:pPr algn="l" marL="626111" indent="-313055" lvl="1">
              <a:lnSpc>
                <a:spcPts val="3480"/>
              </a:lnSpc>
              <a:buFont typeface="Arial"/>
              <a:buChar char="•"/>
            </a:pPr>
            <a:r>
              <a:rPr lang="en-US" sz="2900">
                <a:solidFill>
                  <a:srgbClr val="2B4B82"/>
                </a:solidFill>
                <a:latin typeface="Josefin Sans"/>
                <a:ea typeface="Josefin Sans"/>
                <a:cs typeface="Josefin Sans"/>
                <a:sym typeface="Josefin Sans"/>
              </a:rPr>
              <a:t>Lớp Dropout</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Trong quá trình huấn luyện, Dropout sẽ tắt ngẫu nhiên mộ</a:t>
            </a:r>
            <a:r>
              <a:rPr lang="en-US" sz="2900">
                <a:solidFill>
                  <a:srgbClr val="2B4B82"/>
                </a:solidFill>
                <a:latin typeface="Josefin Sans"/>
                <a:ea typeface="Josefin Sans"/>
                <a:cs typeface="Josefin Sans"/>
                <a:sym typeface="Josefin Sans"/>
              </a:rPr>
              <a:t>t tỷ lệ nơ-ron (ví dụ 0.25 tức là 25%).</a:t>
            </a:r>
          </a:p>
          <a:p>
            <a:pPr algn="l" marL="626111" indent="-313055" lvl="1">
              <a:lnSpc>
                <a:spcPts val="3480"/>
              </a:lnSpc>
              <a:buFont typeface="Arial"/>
              <a:buChar char="•"/>
            </a:pPr>
            <a:r>
              <a:rPr lang="en-US" sz="2900">
                <a:solidFill>
                  <a:srgbClr val="2B4B82"/>
                </a:solidFill>
                <a:latin typeface="Josefin Sans"/>
                <a:ea typeface="Josefin Sans"/>
                <a:cs typeface="Josefin Sans"/>
                <a:sym typeface="Josefin Sans"/>
              </a:rPr>
              <a:t>Tác dụng::</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Các nơ-ron học một cách độc lập hơn, mà không bị phụ thuộc quá mức vào các nơ ron xung quanh ⟶ Ng</a:t>
            </a:r>
            <a:r>
              <a:rPr lang="en-US" sz="2900">
                <a:solidFill>
                  <a:srgbClr val="2B4B82"/>
                </a:solidFill>
                <a:latin typeface="Josefin Sans"/>
                <a:ea typeface="Josefin Sans"/>
                <a:cs typeface="Josefin Sans"/>
                <a:sym typeface="Josefin Sans"/>
              </a:rPr>
              <a:t>ăn chặn hiện tượng Overfitting </a:t>
            </a:r>
          </a:p>
          <a:p>
            <a:pPr algn="l">
              <a:lnSpc>
                <a:spcPts val="3480"/>
              </a:lnSpc>
            </a:pPr>
          </a:p>
          <a:p>
            <a:pPr algn="l">
              <a:lnSpc>
                <a:spcPts val="3480"/>
              </a:lnSpc>
            </a:pPr>
          </a:p>
          <a:p>
            <a:pPr algn="l">
              <a:lnSpc>
                <a:spcPts val="3480"/>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94DDDE"/>
        </a:solidFill>
      </p:bgPr>
    </p:bg>
    <p:spTree>
      <p:nvGrpSpPr>
        <p:cNvPr id="1" name=""/>
        <p:cNvGrpSpPr/>
        <p:nvPr/>
      </p:nvGrpSpPr>
      <p:grpSpPr>
        <a:xfrm>
          <a:off x="0" y="0"/>
          <a:ext cx="0" cy="0"/>
          <a:chOff x="0" y="0"/>
          <a:chExt cx="0" cy="0"/>
        </a:xfrm>
      </p:grpSpPr>
      <p:sp>
        <p:nvSpPr>
          <p:cNvPr name="Freeform 2" id="2"/>
          <p:cNvSpPr/>
          <p:nvPr/>
        </p:nvSpPr>
        <p:spPr>
          <a:xfrm flipH="false" flipV="false" rot="0">
            <a:off x="9144000" y="3029992"/>
            <a:ext cx="8300584" cy="4669078"/>
          </a:xfrm>
          <a:custGeom>
            <a:avLst/>
            <a:gdLst/>
            <a:ahLst/>
            <a:cxnLst/>
            <a:rect r="r" b="b" t="t" l="l"/>
            <a:pathLst>
              <a:path h="4669078" w="8300584">
                <a:moveTo>
                  <a:pt x="0" y="0"/>
                </a:moveTo>
                <a:lnTo>
                  <a:pt x="8300584" y="0"/>
                </a:lnTo>
                <a:lnTo>
                  <a:pt x="8300584" y="4669078"/>
                </a:lnTo>
                <a:lnTo>
                  <a:pt x="0" y="4669078"/>
                </a:lnTo>
                <a:lnTo>
                  <a:pt x="0" y="0"/>
                </a:lnTo>
                <a:close/>
              </a:path>
            </a:pathLst>
          </a:custGeom>
          <a:blipFill>
            <a:blip r:embed="rId2"/>
            <a:stretch>
              <a:fillRect l="0" t="0" r="0" b="0"/>
            </a:stretch>
          </a:blipFill>
        </p:spPr>
      </p:sp>
      <p:sp>
        <p:nvSpPr>
          <p:cNvPr name="TextBox 3" id="3"/>
          <p:cNvSpPr txBox="true"/>
          <p:nvPr/>
        </p:nvSpPr>
        <p:spPr>
          <a:xfrm rot="0">
            <a:off x="1028700" y="1240805"/>
            <a:ext cx="9768230" cy="990600"/>
          </a:xfrm>
          <a:prstGeom prst="rect">
            <a:avLst/>
          </a:prstGeom>
        </p:spPr>
        <p:txBody>
          <a:bodyPr anchor="t" rtlCol="false" tIns="0" lIns="0" bIns="0" rIns="0">
            <a:spAutoFit/>
          </a:bodyPr>
          <a:lstStyle/>
          <a:p>
            <a:pPr algn="l">
              <a:lnSpc>
                <a:spcPts val="7680"/>
              </a:lnSpc>
            </a:pPr>
            <a:r>
              <a:rPr lang="en-US" sz="6400">
                <a:solidFill>
                  <a:srgbClr val="31356E"/>
                </a:solidFill>
                <a:latin typeface="Josefin Sans"/>
                <a:ea typeface="Josefin Sans"/>
                <a:cs typeface="Josefin Sans"/>
                <a:sym typeface="Josefin Sans"/>
              </a:rPr>
              <a:t>Xây dựng mô hình CNN</a:t>
            </a:r>
          </a:p>
        </p:txBody>
      </p:sp>
      <p:sp>
        <p:nvSpPr>
          <p:cNvPr name="TextBox 4" id="4"/>
          <p:cNvSpPr txBox="true"/>
          <p:nvPr/>
        </p:nvSpPr>
        <p:spPr>
          <a:xfrm rot="0">
            <a:off x="868078" y="3020467"/>
            <a:ext cx="8115300" cy="5267325"/>
          </a:xfrm>
          <a:prstGeom prst="rect">
            <a:avLst/>
          </a:prstGeom>
        </p:spPr>
        <p:txBody>
          <a:bodyPr anchor="t" rtlCol="false" tIns="0" lIns="0" bIns="0" rIns="0">
            <a:spAutoFit/>
          </a:bodyPr>
          <a:lstStyle/>
          <a:p>
            <a:pPr algn="l" marL="626111" indent="-313055" lvl="1">
              <a:lnSpc>
                <a:spcPts val="3480"/>
              </a:lnSpc>
              <a:buFont typeface="Arial"/>
              <a:buChar char="•"/>
            </a:pPr>
            <a:r>
              <a:rPr lang="en-US" sz="2900">
                <a:solidFill>
                  <a:srgbClr val="2B4B82"/>
                </a:solidFill>
                <a:latin typeface="Josefin Sans"/>
                <a:ea typeface="Josefin Sans"/>
                <a:cs typeface="Josefin Sans"/>
                <a:sym typeface="Josefin Sans"/>
              </a:rPr>
              <a:t>Dense (Fully Connected Layer)</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Tổng hợp tất cả các đặc trưng mà</a:t>
            </a:r>
            <a:r>
              <a:rPr lang="en-US" sz="2900">
                <a:solidFill>
                  <a:srgbClr val="2B4B82"/>
                </a:solidFill>
                <a:latin typeface="Josefin Sans"/>
                <a:ea typeface="Josefin Sans"/>
                <a:cs typeface="Josefin Sans"/>
                <a:sym typeface="Josefin Sans"/>
              </a:rPr>
              <a:t> các lớp Conv2D đã trích xuất để đưa ra quyết định cuối cùng.</a:t>
            </a:r>
          </a:p>
          <a:p>
            <a:pPr algn="l" marL="626111" indent="-313055" lvl="1">
              <a:lnSpc>
                <a:spcPts val="3480"/>
              </a:lnSpc>
              <a:buFont typeface="Arial"/>
              <a:buChar char="•"/>
            </a:pPr>
            <a:r>
              <a:rPr lang="en-US" sz="2900">
                <a:solidFill>
                  <a:srgbClr val="2B4B82"/>
                </a:solidFill>
                <a:latin typeface="Josefin Sans"/>
                <a:ea typeface="Josefin Sans"/>
                <a:cs typeface="Josefin Sans"/>
                <a:sym typeface="Josefin Sans"/>
              </a:rPr>
              <a:t>Tác dụng::</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Mỗi nơ-ron trong lớp Dense kết nối với tất cả nơ-ron của lớp trước đó. Nó học các mối quan </a:t>
            </a:r>
            <a:r>
              <a:rPr lang="en-US" sz="2900">
                <a:solidFill>
                  <a:srgbClr val="2B4B82"/>
                </a:solidFill>
                <a:latin typeface="Josefin Sans"/>
                <a:ea typeface="Josefin Sans"/>
                <a:cs typeface="Josefin Sans"/>
                <a:sym typeface="Josefin Sans"/>
              </a:rPr>
              <a:t>hệ phi tuyến tính phức tạp.</a:t>
            </a:r>
          </a:p>
          <a:p>
            <a:pPr algn="l">
              <a:lnSpc>
                <a:spcPts val="3480"/>
              </a:lnSpc>
            </a:pPr>
          </a:p>
          <a:p>
            <a:pPr algn="l">
              <a:lnSpc>
                <a:spcPts val="3480"/>
              </a:lnSpc>
            </a:pPr>
          </a:p>
          <a:p>
            <a:pPr algn="l">
              <a:lnSpc>
                <a:spcPts val="3480"/>
              </a:lnSpc>
            </a:pPr>
          </a:p>
          <a:p>
            <a:pPr algn="l">
              <a:lnSpc>
                <a:spcPts val="3480"/>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94DDDE"/>
        </a:solidFill>
      </p:bgPr>
    </p:bg>
    <p:spTree>
      <p:nvGrpSpPr>
        <p:cNvPr id="1" name=""/>
        <p:cNvGrpSpPr/>
        <p:nvPr/>
      </p:nvGrpSpPr>
      <p:grpSpPr>
        <a:xfrm>
          <a:off x="0" y="0"/>
          <a:ext cx="0" cy="0"/>
          <a:chOff x="0" y="0"/>
          <a:chExt cx="0" cy="0"/>
        </a:xfrm>
      </p:grpSpPr>
      <p:sp>
        <p:nvSpPr>
          <p:cNvPr name="Freeform 2" id="2"/>
          <p:cNvSpPr/>
          <p:nvPr/>
        </p:nvSpPr>
        <p:spPr>
          <a:xfrm flipH="false" flipV="false" rot="0">
            <a:off x="3957109" y="1687322"/>
            <a:ext cx="9976259" cy="7731601"/>
          </a:xfrm>
          <a:custGeom>
            <a:avLst/>
            <a:gdLst/>
            <a:ahLst/>
            <a:cxnLst/>
            <a:rect r="r" b="b" t="t" l="l"/>
            <a:pathLst>
              <a:path h="7731601" w="9976259">
                <a:moveTo>
                  <a:pt x="0" y="0"/>
                </a:moveTo>
                <a:lnTo>
                  <a:pt x="9976259" y="0"/>
                </a:lnTo>
                <a:lnTo>
                  <a:pt x="9976259" y="7731600"/>
                </a:lnTo>
                <a:lnTo>
                  <a:pt x="0" y="7731600"/>
                </a:lnTo>
                <a:lnTo>
                  <a:pt x="0" y="0"/>
                </a:lnTo>
                <a:close/>
              </a:path>
            </a:pathLst>
          </a:custGeom>
          <a:blipFill>
            <a:blip r:embed="rId2"/>
            <a:stretch>
              <a:fillRect l="0" t="0" r="0" b="0"/>
            </a:stretch>
          </a:blipFill>
        </p:spPr>
      </p:sp>
      <p:sp>
        <p:nvSpPr>
          <p:cNvPr name="TextBox 3" id="3"/>
          <p:cNvSpPr txBox="true"/>
          <p:nvPr/>
        </p:nvSpPr>
        <p:spPr>
          <a:xfrm rot="0">
            <a:off x="1028700" y="536099"/>
            <a:ext cx="9768230" cy="990600"/>
          </a:xfrm>
          <a:prstGeom prst="rect">
            <a:avLst/>
          </a:prstGeom>
        </p:spPr>
        <p:txBody>
          <a:bodyPr anchor="t" rtlCol="false" tIns="0" lIns="0" bIns="0" rIns="0">
            <a:spAutoFit/>
          </a:bodyPr>
          <a:lstStyle/>
          <a:p>
            <a:pPr algn="l">
              <a:lnSpc>
                <a:spcPts val="7680"/>
              </a:lnSpc>
            </a:pPr>
            <a:r>
              <a:rPr lang="en-US" sz="6400">
                <a:solidFill>
                  <a:srgbClr val="31356E"/>
                </a:solidFill>
                <a:latin typeface="Josefin Sans"/>
                <a:ea typeface="Josefin Sans"/>
                <a:cs typeface="Josefin Sans"/>
                <a:sym typeface="Josefin Sans"/>
              </a:rPr>
              <a:t>Xây dựng mô hình CNN</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94DDDE"/>
        </a:solidFill>
      </p:bgPr>
    </p:bg>
    <p:spTree>
      <p:nvGrpSpPr>
        <p:cNvPr id="1" name=""/>
        <p:cNvGrpSpPr/>
        <p:nvPr/>
      </p:nvGrpSpPr>
      <p:grpSpPr>
        <a:xfrm>
          <a:off x="0" y="0"/>
          <a:ext cx="0" cy="0"/>
          <a:chOff x="0" y="0"/>
          <a:chExt cx="0" cy="0"/>
        </a:xfrm>
      </p:grpSpPr>
      <p:sp>
        <p:nvSpPr>
          <p:cNvPr name="Freeform 2" id="2"/>
          <p:cNvSpPr/>
          <p:nvPr/>
        </p:nvSpPr>
        <p:spPr>
          <a:xfrm flipH="false" flipV="false" rot="0">
            <a:off x="10796930" y="2369082"/>
            <a:ext cx="5391517" cy="6073633"/>
          </a:xfrm>
          <a:custGeom>
            <a:avLst/>
            <a:gdLst/>
            <a:ahLst/>
            <a:cxnLst/>
            <a:rect r="r" b="b" t="t" l="l"/>
            <a:pathLst>
              <a:path h="6073633" w="5391517">
                <a:moveTo>
                  <a:pt x="0" y="0"/>
                </a:moveTo>
                <a:lnTo>
                  <a:pt x="5391517" y="0"/>
                </a:lnTo>
                <a:lnTo>
                  <a:pt x="5391517" y="6073633"/>
                </a:lnTo>
                <a:lnTo>
                  <a:pt x="0" y="6073633"/>
                </a:lnTo>
                <a:lnTo>
                  <a:pt x="0" y="0"/>
                </a:lnTo>
                <a:close/>
              </a:path>
            </a:pathLst>
          </a:custGeom>
          <a:blipFill>
            <a:blip r:embed="rId2"/>
            <a:stretch>
              <a:fillRect l="0" t="0" r="0" b="0"/>
            </a:stretch>
          </a:blipFill>
        </p:spPr>
      </p:sp>
      <p:sp>
        <p:nvSpPr>
          <p:cNvPr name="TextBox 3" id="3"/>
          <p:cNvSpPr txBox="true"/>
          <p:nvPr/>
        </p:nvSpPr>
        <p:spPr>
          <a:xfrm rot="0">
            <a:off x="1028700" y="1378482"/>
            <a:ext cx="9768230" cy="990600"/>
          </a:xfrm>
          <a:prstGeom prst="rect">
            <a:avLst/>
          </a:prstGeom>
        </p:spPr>
        <p:txBody>
          <a:bodyPr anchor="t" rtlCol="false" tIns="0" lIns="0" bIns="0" rIns="0">
            <a:spAutoFit/>
          </a:bodyPr>
          <a:lstStyle/>
          <a:p>
            <a:pPr algn="l">
              <a:lnSpc>
                <a:spcPts val="7680"/>
              </a:lnSpc>
            </a:pPr>
            <a:r>
              <a:rPr lang="en-US" sz="6400">
                <a:solidFill>
                  <a:srgbClr val="31356E"/>
                </a:solidFill>
                <a:latin typeface="Josefin Sans"/>
                <a:ea typeface="Josefin Sans"/>
                <a:cs typeface="Josefin Sans"/>
                <a:sym typeface="Josefin Sans"/>
              </a:rPr>
              <a:t>Huấn luyện mô hình</a:t>
            </a:r>
          </a:p>
        </p:txBody>
      </p:sp>
      <p:sp>
        <p:nvSpPr>
          <p:cNvPr name="TextBox 4" id="4"/>
          <p:cNvSpPr txBox="true"/>
          <p:nvPr/>
        </p:nvSpPr>
        <p:spPr>
          <a:xfrm rot="0">
            <a:off x="1028700" y="2767473"/>
            <a:ext cx="8115300" cy="5267325"/>
          </a:xfrm>
          <a:prstGeom prst="rect">
            <a:avLst/>
          </a:prstGeom>
        </p:spPr>
        <p:txBody>
          <a:bodyPr anchor="t" rtlCol="false" tIns="0" lIns="0" bIns="0" rIns="0">
            <a:spAutoFit/>
          </a:bodyPr>
          <a:lstStyle/>
          <a:p>
            <a:pPr algn="l" marL="626111" indent="-313055" lvl="1">
              <a:lnSpc>
                <a:spcPts val="3480"/>
              </a:lnSpc>
              <a:buFont typeface="Arial"/>
              <a:buChar char="•"/>
            </a:pPr>
            <a:r>
              <a:rPr lang="en-US" sz="2900">
                <a:solidFill>
                  <a:srgbClr val="2B4B82"/>
                </a:solidFill>
                <a:latin typeface="Josefin Sans"/>
                <a:ea typeface="Josefin Sans"/>
                <a:cs typeface="Josefin Sans"/>
                <a:sym typeface="Josefin Sans"/>
              </a:rPr>
              <a:t>Các hàm callback:</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EarlyStopping: Dừng việc huấn luyện lại ngay khi thấy mô hình không còn tiến bộ nữa để tránh lãng phí thời gian và chống học vẹt (Overfitting).</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ModelCheckpoint: Tự động lưu lại mô hình (file .h5 hoặc .keras).</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ReduceLROnPlateau: Giúp mô hình thoát khỏi điểm tắc nghẽn (local minima) hoặc hội tụ sâu hơn bằng cách giảm tốc độ học (Learning Rate).</a:t>
            </a:r>
          </a:p>
          <a:p>
            <a:pPr algn="l">
              <a:lnSpc>
                <a:spcPts val="3480"/>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94DDDE"/>
        </a:solidFill>
      </p:bgPr>
    </p:bg>
    <p:spTree>
      <p:nvGrpSpPr>
        <p:cNvPr id="1" name=""/>
        <p:cNvGrpSpPr/>
        <p:nvPr/>
      </p:nvGrpSpPr>
      <p:grpSpPr>
        <a:xfrm>
          <a:off x="0" y="0"/>
          <a:ext cx="0" cy="0"/>
          <a:chOff x="0" y="0"/>
          <a:chExt cx="0" cy="0"/>
        </a:xfrm>
      </p:grpSpPr>
      <p:sp>
        <p:nvSpPr>
          <p:cNvPr name="Freeform 2" id="2"/>
          <p:cNvSpPr/>
          <p:nvPr/>
        </p:nvSpPr>
        <p:spPr>
          <a:xfrm flipH="false" flipV="false" rot="0">
            <a:off x="9849426" y="2603699"/>
            <a:ext cx="7247346" cy="2971412"/>
          </a:xfrm>
          <a:custGeom>
            <a:avLst/>
            <a:gdLst/>
            <a:ahLst/>
            <a:cxnLst/>
            <a:rect r="r" b="b" t="t" l="l"/>
            <a:pathLst>
              <a:path h="2971412" w="7247346">
                <a:moveTo>
                  <a:pt x="0" y="0"/>
                </a:moveTo>
                <a:lnTo>
                  <a:pt x="7247346" y="0"/>
                </a:lnTo>
                <a:lnTo>
                  <a:pt x="7247346" y="2971412"/>
                </a:lnTo>
                <a:lnTo>
                  <a:pt x="0" y="2971412"/>
                </a:lnTo>
                <a:lnTo>
                  <a:pt x="0" y="0"/>
                </a:lnTo>
                <a:close/>
              </a:path>
            </a:pathLst>
          </a:custGeom>
          <a:blipFill>
            <a:blip r:embed="rId2"/>
            <a:stretch>
              <a:fillRect l="0" t="0" r="0" b="0"/>
            </a:stretch>
          </a:blipFill>
        </p:spPr>
      </p:sp>
      <p:sp>
        <p:nvSpPr>
          <p:cNvPr name="Freeform 3" id="3"/>
          <p:cNvSpPr/>
          <p:nvPr/>
        </p:nvSpPr>
        <p:spPr>
          <a:xfrm flipH="false" flipV="false" rot="0">
            <a:off x="9849426" y="6109493"/>
            <a:ext cx="7254418" cy="2974311"/>
          </a:xfrm>
          <a:custGeom>
            <a:avLst/>
            <a:gdLst/>
            <a:ahLst/>
            <a:cxnLst/>
            <a:rect r="r" b="b" t="t" l="l"/>
            <a:pathLst>
              <a:path h="2974311" w="7254418">
                <a:moveTo>
                  <a:pt x="0" y="0"/>
                </a:moveTo>
                <a:lnTo>
                  <a:pt x="7254417" y="0"/>
                </a:lnTo>
                <a:lnTo>
                  <a:pt x="7254417" y="2974311"/>
                </a:lnTo>
                <a:lnTo>
                  <a:pt x="0" y="2974311"/>
                </a:lnTo>
                <a:lnTo>
                  <a:pt x="0" y="0"/>
                </a:lnTo>
                <a:close/>
              </a:path>
            </a:pathLst>
          </a:custGeom>
          <a:blipFill>
            <a:blip r:embed="rId3"/>
            <a:stretch>
              <a:fillRect l="0" t="0" r="0" b="0"/>
            </a:stretch>
          </a:blipFill>
        </p:spPr>
      </p:sp>
      <p:sp>
        <p:nvSpPr>
          <p:cNvPr name="TextBox 4" id="4"/>
          <p:cNvSpPr txBox="true"/>
          <p:nvPr/>
        </p:nvSpPr>
        <p:spPr>
          <a:xfrm rot="0">
            <a:off x="1028700" y="1378482"/>
            <a:ext cx="9768230" cy="990600"/>
          </a:xfrm>
          <a:prstGeom prst="rect">
            <a:avLst/>
          </a:prstGeom>
        </p:spPr>
        <p:txBody>
          <a:bodyPr anchor="t" rtlCol="false" tIns="0" lIns="0" bIns="0" rIns="0">
            <a:spAutoFit/>
          </a:bodyPr>
          <a:lstStyle/>
          <a:p>
            <a:pPr algn="l">
              <a:lnSpc>
                <a:spcPts val="7680"/>
              </a:lnSpc>
            </a:pPr>
            <a:r>
              <a:rPr lang="en-US" sz="6400">
                <a:solidFill>
                  <a:srgbClr val="31356E"/>
                </a:solidFill>
                <a:latin typeface="Josefin Sans"/>
                <a:ea typeface="Josefin Sans"/>
                <a:cs typeface="Josefin Sans"/>
                <a:sym typeface="Josefin Sans"/>
              </a:rPr>
              <a:t>Huấn luyện mô hình</a:t>
            </a:r>
          </a:p>
        </p:txBody>
      </p:sp>
      <p:sp>
        <p:nvSpPr>
          <p:cNvPr name="TextBox 5" id="5"/>
          <p:cNvSpPr txBox="true"/>
          <p:nvPr/>
        </p:nvSpPr>
        <p:spPr>
          <a:xfrm rot="0">
            <a:off x="1028700" y="3205623"/>
            <a:ext cx="8115300" cy="4391025"/>
          </a:xfrm>
          <a:prstGeom prst="rect">
            <a:avLst/>
          </a:prstGeom>
        </p:spPr>
        <p:txBody>
          <a:bodyPr anchor="t" rtlCol="false" tIns="0" lIns="0" bIns="0" rIns="0">
            <a:spAutoFit/>
          </a:bodyPr>
          <a:lstStyle/>
          <a:p>
            <a:pPr algn="l" marL="626111" indent="-313055" lvl="1">
              <a:lnSpc>
                <a:spcPts val="3480"/>
              </a:lnSpc>
              <a:buFont typeface="Arial"/>
              <a:buChar char="•"/>
            </a:pPr>
            <a:r>
              <a:rPr lang="en-US" sz="2900">
                <a:solidFill>
                  <a:srgbClr val="2B4B82"/>
                </a:solidFill>
                <a:latin typeface="Josefin Sans"/>
                <a:ea typeface="Josefin Sans"/>
                <a:cs typeface="Josefin Sans"/>
                <a:sym typeface="Josefin Sans"/>
              </a:rPr>
              <a:t>Data augmentation</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rotation_range: xoay ảnh</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wi</a:t>
            </a:r>
            <a:r>
              <a:rPr lang="en-US" sz="2900">
                <a:solidFill>
                  <a:srgbClr val="2B4B82"/>
                </a:solidFill>
                <a:latin typeface="Josefin Sans"/>
                <a:ea typeface="Josefin Sans"/>
                <a:cs typeface="Josefin Sans"/>
                <a:sym typeface="Josefin Sans"/>
              </a:rPr>
              <a:t>dth_shift_range &amp; height_shift_range: dịch chuyển ảnh</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z</a:t>
            </a:r>
            <a:r>
              <a:rPr lang="en-US" sz="2900">
                <a:solidFill>
                  <a:srgbClr val="2B4B82"/>
                </a:solidFill>
                <a:latin typeface="Josefin Sans"/>
                <a:ea typeface="Josefin Sans"/>
                <a:cs typeface="Josefin Sans"/>
                <a:sym typeface="Josefin Sans"/>
              </a:rPr>
              <a:t>oom_range: thu phóng kích thước ảnh</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shear_range: biến đổi ảnh bằng cách kéo nghiêng ảnh</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fill_mode:: lấp đầy các khoảng trống khi biến đổi ảnh</a:t>
            </a:r>
          </a:p>
          <a:p>
            <a:pPr algn="l">
              <a:lnSpc>
                <a:spcPts val="3480"/>
              </a:lnSpc>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94DDDE"/>
        </a:solidFill>
      </p:bgPr>
    </p:bg>
    <p:spTree>
      <p:nvGrpSpPr>
        <p:cNvPr id="1" name=""/>
        <p:cNvGrpSpPr/>
        <p:nvPr/>
      </p:nvGrpSpPr>
      <p:grpSpPr>
        <a:xfrm>
          <a:off x="0" y="0"/>
          <a:ext cx="0" cy="0"/>
          <a:chOff x="0" y="0"/>
          <a:chExt cx="0" cy="0"/>
        </a:xfrm>
      </p:grpSpPr>
      <p:sp>
        <p:nvSpPr>
          <p:cNvPr name="Freeform 2" id="2"/>
          <p:cNvSpPr/>
          <p:nvPr/>
        </p:nvSpPr>
        <p:spPr>
          <a:xfrm flipH="false" flipV="false" rot="0">
            <a:off x="9542659" y="5369975"/>
            <a:ext cx="7716641" cy="4476830"/>
          </a:xfrm>
          <a:custGeom>
            <a:avLst/>
            <a:gdLst/>
            <a:ahLst/>
            <a:cxnLst/>
            <a:rect r="r" b="b" t="t" l="l"/>
            <a:pathLst>
              <a:path h="4476830" w="7716641">
                <a:moveTo>
                  <a:pt x="0" y="0"/>
                </a:moveTo>
                <a:lnTo>
                  <a:pt x="7716641" y="0"/>
                </a:lnTo>
                <a:lnTo>
                  <a:pt x="7716641" y="4476830"/>
                </a:lnTo>
                <a:lnTo>
                  <a:pt x="0" y="4476830"/>
                </a:lnTo>
                <a:lnTo>
                  <a:pt x="0" y="0"/>
                </a:lnTo>
                <a:close/>
              </a:path>
            </a:pathLst>
          </a:custGeom>
          <a:blipFill>
            <a:blip r:embed="rId2"/>
            <a:stretch>
              <a:fillRect l="0" t="0" r="0" b="0"/>
            </a:stretch>
          </a:blipFill>
        </p:spPr>
      </p:sp>
      <p:sp>
        <p:nvSpPr>
          <p:cNvPr name="Freeform 3" id="3"/>
          <p:cNvSpPr/>
          <p:nvPr/>
        </p:nvSpPr>
        <p:spPr>
          <a:xfrm flipH="false" flipV="false" rot="0">
            <a:off x="9542659" y="461952"/>
            <a:ext cx="7716641" cy="4681548"/>
          </a:xfrm>
          <a:custGeom>
            <a:avLst/>
            <a:gdLst/>
            <a:ahLst/>
            <a:cxnLst/>
            <a:rect r="r" b="b" t="t" l="l"/>
            <a:pathLst>
              <a:path h="4681548" w="7716641">
                <a:moveTo>
                  <a:pt x="0" y="0"/>
                </a:moveTo>
                <a:lnTo>
                  <a:pt x="7716641" y="0"/>
                </a:lnTo>
                <a:lnTo>
                  <a:pt x="7716641" y="4681548"/>
                </a:lnTo>
                <a:lnTo>
                  <a:pt x="0" y="4681548"/>
                </a:lnTo>
                <a:lnTo>
                  <a:pt x="0" y="0"/>
                </a:lnTo>
                <a:close/>
              </a:path>
            </a:pathLst>
          </a:custGeom>
          <a:blipFill>
            <a:blip r:embed="rId3"/>
            <a:stretch>
              <a:fillRect l="0" t="-4996" r="0" b="-4996"/>
            </a:stretch>
          </a:blipFill>
        </p:spPr>
      </p:sp>
      <p:sp>
        <p:nvSpPr>
          <p:cNvPr name="TextBox 4" id="4"/>
          <p:cNvSpPr txBox="true"/>
          <p:nvPr/>
        </p:nvSpPr>
        <p:spPr>
          <a:xfrm rot="0">
            <a:off x="1028700" y="1921290"/>
            <a:ext cx="9768230" cy="990600"/>
          </a:xfrm>
          <a:prstGeom prst="rect">
            <a:avLst/>
          </a:prstGeom>
        </p:spPr>
        <p:txBody>
          <a:bodyPr anchor="t" rtlCol="false" tIns="0" lIns="0" bIns="0" rIns="0">
            <a:spAutoFit/>
          </a:bodyPr>
          <a:lstStyle/>
          <a:p>
            <a:pPr algn="l">
              <a:lnSpc>
                <a:spcPts val="7680"/>
              </a:lnSpc>
            </a:pPr>
            <a:r>
              <a:rPr lang="en-US" sz="6400">
                <a:solidFill>
                  <a:srgbClr val="31356E"/>
                </a:solidFill>
                <a:latin typeface="Josefin Sans"/>
                <a:ea typeface="Josefin Sans"/>
                <a:cs typeface="Josefin Sans"/>
                <a:sym typeface="Josefin Sans"/>
              </a:rPr>
              <a:t>Đánh giá và tổng kết</a:t>
            </a:r>
          </a:p>
        </p:txBody>
      </p:sp>
      <p:sp>
        <p:nvSpPr>
          <p:cNvPr name="TextBox 5" id="5"/>
          <p:cNvSpPr txBox="true"/>
          <p:nvPr/>
        </p:nvSpPr>
        <p:spPr>
          <a:xfrm rot="0">
            <a:off x="1028700" y="3072410"/>
            <a:ext cx="8115300" cy="5705475"/>
          </a:xfrm>
          <a:prstGeom prst="rect">
            <a:avLst/>
          </a:prstGeom>
        </p:spPr>
        <p:txBody>
          <a:bodyPr anchor="t" rtlCol="false" tIns="0" lIns="0" bIns="0" rIns="0">
            <a:spAutoFit/>
          </a:bodyPr>
          <a:lstStyle/>
          <a:p>
            <a:pPr algn="l" marL="626111" indent="-313055" lvl="1">
              <a:lnSpc>
                <a:spcPts val="3480"/>
              </a:lnSpc>
              <a:buFont typeface="Arial"/>
              <a:buChar char="•"/>
            </a:pPr>
            <a:r>
              <a:rPr lang="en-US" sz="2900">
                <a:solidFill>
                  <a:srgbClr val="2B4B82"/>
                </a:solidFill>
                <a:latin typeface="Josefin Sans"/>
                <a:ea typeface="Josefin Sans"/>
                <a:cs typeface="Josefin Sans"/>
                <a:sym typeface="Josefin Sans"/>
              </a:rPr>
              <a:t>Các metrics để đánh giá mô hình phân loại</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Accuracy: Độ chính xác</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Precision: độ chuẩn xác (ví dụ trong tất cả các trườnghợp mô hình dự đoán là hình tròn thì có bao nhiêu trường hợp dự đoán chính xác)</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R</a:t>
            </a:r>
            <a:r>
              <a:rPr lang="en-US" sz="2900">
                <a:solidFill>
                  <a:srgbClr val="2B4B82"/>
                </a:solidFill>
                <a:latin typeface="Josefin Sans"/>
                <a:ea typeface="Josefin Sans"/>
                <a:cs typeface="Josefin Sans"/>
                <a:sym typeface="Josefin Sans"/>
              </a:rPr>
              <a:t>ecall: độ phủ (trong tất cả trường hợp ảnh là </a:t>
            </a:r>
            <a:r>
              <a:rPr lang="en-US" sz="2900">
                <a:solidFill>
                  <a:srgbClr val="2B4B82"/>
                </a:solidFill>
                <a:latin typeface="Josefin Sans"/>
                <a:ea typeface="Josefin Sans"/>
                <a:cs typeface="Josefin Sans"/>
                <a:sym typeface="Josefin Sans"/>
              </a:rPr>
              <a:t>hình tròn thì mô hình dự đoán đúng được bao nhiêu trong đó)</a:t>
            </a:r>
          </a:p>
          <a:p>
            <a:pPr algn="l" marL="1252221" indent="-417407" lvl="2">
              <a:lnSpc>
                <a:spcPts val="3480"/>
              </a:lnSpc>
              <a:buFont typeface="Arial"/>
              <a:buChar char="⚬"/>
            </a:pPr>
            <a:r>
              <a:rPr lang="en-US" sz="2900">
                <a:solidFill>
                  <a:srgbClr val="2B4B82"/>
                </a:solidFill>
                <a:latin typeface="Josefin Sans"/>
                <a:ea typeface="Josefin Sans"/>
                <a:cs typeface="Josefin Sans"/>
                <a:sym typeface="Josefin Sans"/>
              </a:rPr>
              <a:t>F1-score: hệ số cân bằng giữa precision và recall</a:t>
            </a:r>
          </a:p>
          <a:p>
            <a:pPr algn="l">
              <a:lnSpc>
                <a:spcPts val="3480"/>
              </a:lnSpc>
            </a:pPr>
          </a:p>
          <a:p>
            <a:pPr algn="l">
              <a:lnSpc>
                <a:spcPts val="3480"/>
              </a:lnSpc>
            </a:pPr>
          </a:p>
        </p:txBody>
      </p:sp>
    </p:spTree>
  </p:cSld>
  <p:clrMapOvr>
    <a:masterClrMapping/>
  </p:clrMapOvr>
</p:sld>
</file>

<file path=ppt/slides/slide21.xml><?xml version="1.0" encoding="utf-8"?>
<p:sld xmlns:p="http://schemas.openxmlformats.org/presentationml/2006/main" xmlns:a="http://schemas.openxmlformats.org/drawingml/2006/main">
  <p:cSld>
    <p:bg>
      <p:bgPr>
        <a:solidFill>
          <a:srgbClr val="94DDDE"/>
        </a:solidFill>
      </p:bgPr>
    </p:bg>
    <p:spTree>
      <p:nvGrpSpPr>
        <p:cNvPr id="1" name=""/>
        <p:cNvGrpSpPr/>
        <p:nvPr/>
      </p:nvGrpSpPr>
      <p:grpSpPr>
        <a:xfrm>
          <a:off x="0" y="0"/>
          <a:ext cx="0" cy="0"/>
          <a:chOff x="0" y="0"/>
          <a:chExt cx="0" cy="0"/>
        </a:xfrm>
      </p:grpSpPr>
      <p:sp>
        <p:nvSpPr>
          <p:cNvPr name="TextBox 2" id="2"/>
          <p:cNvSpPr txBox="true"/>
          <p:nvPr/>
        </p:nvSpPr>
        <p:spPr>
          <a:xfrm rot="0">
            <a:off x="1028700" y="1009650"/>
            <a:ext cx="16135350" cy="990600"/>
          </a:xfrm>
          <a:prstGeom prst="rect">
            <a:avLst/>
          </a:prstGeom>
        </p:spPr>
        <p:txBody>
          <a:bodyPr anchor="t" rtlCol="false" tIns="0" lIns="0" bIns="0" rIns="0">
            <a:spAutoFit/>
          </a:bodyPr>
          <a:lstStyle/>
          <a:p>
            <a:pPr algn="ctr">
              <a:lnSpc>
                <a:spcPts val="7680"/>
              </a:lnSpc>
            </a:pPr>
            <a:r>
              <a:rPr lang="en-US" b="true" sz="6400">
                <a:solidFill>
                  <a:srgbClr val="2B4B82"/>
                </a:solidFill>
                <a:latin typeface="Josefin Sans Bold"/>
                <a:ea typeface="Josefin Sans Bold"/>
                <a:cs typeface="Josefin Sans Bold"/>
                <a:sym typeface="Josefin Sans Bold"/>
              </a:rPr>
              <a:t>Áp dụng vào bài toán Air Writing</a:t>
            </a:r>
          </a:p>
        </p:txBody>
      </p:sp>
      <p:grpSp>
        <p:nvGrpSpPr>
          <p:cNvPr name="Group 3" id="3"/>
          <p:cNvGrpSpPr/>
          <p:nvPr/>
        </p:nvGrpSpPr>
        <p:grpSpPr>
          <a:xfrm rot="0">
            <a:off x="6192931" y="4108810"/>
            <a:ext cx="2401669" cy="1513824"/>
            <a:chOff x="0" y="0"/>
            <a:chExt cx="3202226" cy="2018432"/>
          </a:xfrm>
        </p:grpSpPr>
        <p:sp>
          <p:nvSpPr>
            <p:cNvPr name="TextBox 4" id="4"/>
            <p:cNvSpPr txBox="true"/>
            <p:nvPr/>
          </p:nvSpPr>
          <p:spPr>
            <a:xfrm rot="0">
              <a:off x="0" y="-57150"/>
              <a:ext cx="3202226" cy="626172"/>
            </a:xfrm>
            <a:prstGeom prst="rect">
              <a:avLst/>
            </a:prstGeom>
          </p:spPr>
          <p:txBody>
            <a:bodyPr anchor="t" rtlCol="false" tIns="0" lIns="0" bIns="0" rIns="0">
              <a:spAutoFit/>
            </a:bodyPr>
            <a:lstStyle/>
            <a:p>
              <a:pPr algn="ctr">
                <a:lnSpc>
                  <a:spcPts val="3919"/>
                </a:lnSpc>
              </a:pPr>
              <a:r>
                <a:rPr lang="en-US" b="true" sz="2800" spc="478">
                  <a:solidFill>
                    <a:srgbClr val="2B4B82"/>
                  </a:solidFill>
                  <a:latin typeface="Josefin Sans Bold"/>
                  <a:ea typeface="Josefin Sans Bold"/>
                  <a:cs typeface="Josefin Sans Bold"/>
                  <a:sym typeface="Josefin Sans Bold"/>
                </a:rPr>
                <a:t>BƯỚC</a:t>
              </a:r>
            </a:p>
          </p:txBody>
        </p:sp>
        <p:sp>
          <p:nvSpPr>
            <p:cNvPr name="TextBox 5" id="5"/>
            <p:cNvSpPr txBox="true"/>
            <p:nvPr/>
          </p:nvSpPr>
          <p:spPr>
            <a:xfrm rot="0">
              <a:off x="0" y="906221"/>
              <a:ext cx="3202226" cy="1112211"/>
            </a:xfrm>
            <a:prstGeom prst="rect">
              <a:avLst/>
            </a:prstGeom>
          </p:spPr>
          <p:txBody>
            <a:bodyPr anchor="t" rtlCol="false" tIns="0" lIns="0" bIns="0" rIns="0">
              <a:spAutoFit/>
            </a:bodyPr>
            <a:lstStyle/>
            <a:p>
              <a:pPr algn="ctr">
                <a:lnSpc>
                  <a:spcPts val="3359"/>
                </a:lnSpc>
              </a:pPr>
              <a:r>
                <a:rPr lang="en-US" b="true" sz="2400">
                  <a:solidFill>
                    <a:srgbClr val="2B4B82"/>
                  </a:solidFill>
                  <a:latin typeface="Josefin Sans Bold"/>
                  <a:ea typeface="Josefin Sans Bold"/>
                  <a:cs typeface="Josefin Sans Bold"/>
                  <a:sym typeface="Josefin Sans Bold"/>
                </a:rPr>
                <a:t>Tiền xử lí dữ liệu</a:t>
              </a:r>
            </a:p>
          </p:txBody>
        </p:sp>
      </p:grpSp>
      <p:grpSp>
        <p:nvGrpSpPr>
          <p:cNvPr name="Group 6" id="6"/>
          <p:cNvGrpSpPr/>
          <p:nvPr/>
        </p:nvGrpSpPr>
        <p:grpSpPr>
          <a:xfrm rot="0">
            <a:off x="2732449" y="4108810"/>
            <a:ext cx="2459408" cy="1312616"/>
            <a:chOff x="0" y="0"/>
            <a:chExt cx="3279211" cy="1750154"/>
          </a:xfrm>
        </p:grpSpPr>
        <p:sp>
          <p:nvSpPr>
            <p:cNvPr name="TextBox 7" id="7"/>
            <p:cNvSpPr txBox="true"/>
            <p:nvPr/>
          </p:nvSpPr>
          <p:spPr>
            <a:xfrm rot="0">
              <a:off x="0" y="-57150"/>
              <a:ext cx="3279211" cy="626172"/>
            </a:xfrm>
            <a:prstGeom prst="rect">
              <a:avLst/>
            </a:prstGeom>
          </p:spPr>
          <p:txBody>
            <a:bodyPr anchor="t" rtlCol="false" tIns="0" lIns="0" bIns="0" rIns="0">
              <a:spAutoFit/>
            </a:bodyPr>
            <a:lstStyle/>
            <a:p>
              <a:pPr algn="ctr">
                <a:lnSpc>
                  <a:spcPts val="3919"/>
                </a:lnSpc>
              </a:pPr>
              <a:r>
                <a:rPr lang="en-US" b="true" sz="2799" spc="478">
                  <a:solidFill>
                    <a:srgbClr val="2B4B82"/>
                  </a:solidFill>
                  <a:latin typeface="Josefin Sans Bold"/>
                  <a:ea typeface="Josefin Sans Bold"/>
                  <a:cs typeface="Josefin Sans Bold"/>
                  <a:sym typeface="Josefin Sans Bold"/>
                </a:rPr>
                <a:t>BƯỚC</a:t>
              </a:r>
            </a:p>
          </p:txBody>
        </p:sp>
        <p:sp>
          <p:nvSpPr>
            <p:cNvPr name="TextBox 8" id="8"/>
            <p:cNvSpPr txBox="true"/>
            <p:nvPr/>
          </p:nvSpPr>
          <p:spPr>
            <a:xfrm rot="0">
              <a:off x="0" y="1793100"/>
              <a:ext cx="3279211" cy="469487"/>
            </a:xfrm>
            <a:prstGeom prst="rect">
              <a:avLst/>
            </a:prstGeom>
          </p:spPr>
          <p:txBody>
            <a:bodyPr anchor="t" rtlCol="false" tIns="0" lIns="0" bIns="0" rIns="0">
              <a:spAutoFit/>
            </a:bodyPr>
            <a:lstStyle/>
            <a:p>
              <a:pPr algn="ctr">
                <a:lnSpc>
                  <a:spcPts val="2940"/>
                </a:lnSpc>
              </a:pPr>
            </a:p>
          </p:txBody>
        </p:sp>
        <p:sp>
          <p:nvSpPr>
            <p:cNvPr name="TextBox 9" id="9"/>
            <p:cNvSpPr txBox="true"/>
            <p:nvPr/>
          </p:nvSpPr>
          <p:spPr>
            <a:xfrm rot="0">
              <a:off x="0" y="900631"/>
              <a:ext cx="3279211" cy="548803"/>
            </a:xfrm>
            <a:prstGeom prst="rect">
              <a:avLst/>
            </a:prstGeom>
          </p:spPr>
          <p:txBody>
            <a:bodyPr anchor="t" rtlCol="false" tIns="0" lIns="0" bIns="0" rIns="0">
              <a:spAutoFit/>
            </a:bodyPr>
            <a:lstStyle/>
            <a:p>
              <a:pPr algn="ctr">
                <a:lnSpc>
                  <a:spcPts val="3359"/>
                </a:lnSpc>
              </a:pPr>
              <a:r>
                <a:rPr lang="en-US" b="true" sz="2400">
                  <a:solidFill>
                    <a:srgbClr val="2B4B82"/>
                  </a:solidFill>
                  <a:latin typeface="Josefin Sans Bold"/>
                  <a:ea typeface="Josefin Sans Bold"/>
                  <a:cs typeface="Josefin Sans Bold"/>
                  <a:sym typeface="Josefin Sans Bold"/>
                </a:rPr>
                <a:t>Thu thập dữ liệu</a:t>
              </a:r>
            </a:p>
          </p:txBody>
        </p:sp>
      </p:grpSp>
      <p:grpSp>
        <p:nvGrpSpPr>
          <p:cNvPr name="Group 10" id="10"/>
          <p:cNvGrpSpPr/>
          <p:nvPr/>
        </p:nvGrpSpPr>
        <p:grpSpPr>
          <a:xfrm rot="0">
            <a:off x="9427545" y="4108810"/>
            <a:ext cx="2459408" cy="1091268"/>
            <a:chOff x="0" y="0"/>
            <a:chExt cx="3279211" cy="1455024"/>
          </a:xfrm>
        </p:grpSpPr>
        <p:sp>
          <p:nvSpPr>
            <p:cNvPr name="TextBox 11" id="11"/>
            <p:cNvSpPr txBox="true"/>
            <p:nvPr/>
          </p:nvSpPr>
          <p:spPr>
            <a:xfrm rot="0">
              <a:off x="0" y="-57150"/>
              <a:ext cx="3279211" cy="626172"/>
            </a:xfrm>
            <a:prstGeom prst="rect">
              <a:avLst/>
            </a:prstGeom>
          </p:spPr>
          <p:txBody>
            <a:bodyPr anchor="t" rtlCol="false" tIns="0" lIns="0" bIns="0" rIns="0">
              <a:spAutoFit/>
            </a:bodyPr>
            <a:lstStyle/>
            <a:p>
              <a:pPr algn="ctr">
                <a:lnSpc>
                  <a:spcPts val="3919"/>
                </a:lnSpc>
              </a:pPr>
              <a:r>
                <a:rPr lang="en-US" b="true" sz="2799" spc="478">
                  <a:solidFill>
                    <a:srgbClr val="2B4B82"/>
                  </a:solidFill>
                  <a:latin typeface="Josefin Sans Bold"/>
                  <a:ea typeface="Josefin Sans Bold"/>
                  <a:cs typeface="Josefin Sans Bold"/>
                  <a:sym typeface="Josefin Sans Bold"/>
                </a:rPr>
                <a:t>BƯỚC</a:t>
              </a:r>
            </a:p>
          </p:txBody>
        </p:sp>
        <p:sp>
          <p:nvSpPr>
            <p:cNvPr name="TextBox 12" id="12"/>
            <p:cNvSpPr txBox="true"/>
            <p:nvPr/>
          </p:nvSpPr>
          <p:spPr>
            <a:xfrm rot="0">
              <a:off x="0" y="906221"/>
              <a:ext cx="3279211" cy="548803"/>
            </a:xfrm>
            <a:prstGeom prst="rect">
              <a:avLst/>
            </a:prstGeom>
          </p:spPr>
          <p:txBody>
            <a:bodyPr anchor="t" rtlCol="false" tIns="0" lIns="0" bIns="0" rIns="0">
              <a:spAutoFit/>
            </a:bodyPr>
            <a:lstStyle/>
            <a:p>
              <a:pPr algn="ctr">
                <a:lnSpc>
                  <a:spcPts val="3359"/>
                </a:lnSpc>
              </a:pPr>
              <a:r>
                <a:rPr lang="en-US" b="true" sz="2400">
                  <a:solidFill>
                    <a:srgbClr val="2B4B82"/>
                  </a:solidFill>
                  <a:latin typeface="Josefin Sans Bold"/>
                  <a:ea typeface="Josefin Sans Bold"/>
                  <a:cs typeface="Josefin Sans Bold"/>
                  <a:sym typeface="Josefin Sans Bold"/>
                </a:rPr>
                <a:t>Dự đoán</a:t>
              </a:r>
            </a:p>
          </p:txBody>
        </p:sp>
      </p:grpSp>
      <p:grpSp>
        <p:nvGrpSpPr>
          <p:cNvPr name="Group 13" id="13"/>
          <p:cNvGrpSpPr/>
          <p:nvPr/>
        </p:nvGrpSpPr>
        <p:grpSpPr>
          <a:xfrm rot="0">
            <a:off x="12874917" y="4108810"/>
            <a:ext cx="2680634" cy="1091268"/>
            <a:chOff x="0" y="0"/>
            <a:chExt cx="3574179" cy="1455024"/>
          </a:xfrm>
        </p:grpSpPr>
        <p:sp>
          <p:nvSpPr>
            <p:cNvPr name="TextBox 14" id="14"/>
            <p:cNvSpPr txBox="true"/>
            <p:nvPr/>
          </p:nvSpPr>
          <p:spPr>
            <a:xfrm rot="0">
              <a:off x="0" y="-57150"/>
              <a:ext cx="3574179" cy="626172"/>
            </a:xfrm>
            <a:prstGeom prst="rect">
              <a:avLst/>
            </a:prstGeom>
          </p:spPr>
          <p:txBody>
            <a:bodyPr anchor="t" rtlCol="false" tIns="0" lIns="0" bIns="0" rIns="0">
              <a:spAutoFit/>
            </a:bodyPr>
            <a:lstStyle/>
            <a:p>
              <a:pPr algn="ctr">
                <a:lnSpc>
                  <a:spcPts val="3919"/>
                </a:lnSpc>
              </a:pPr>
              <a:r>
                <a:rPr lang="en-US" b="true" sz="2800" spc="478">
                  <a:solidFill>
                    <a:srgbClr val="2B4B82"/>
                  </a:solidFill>
                  <a:latin typeface="Josefin Sans Bold"/>
                  <a:ea typeface="Josefin Sans Bold"/>
                  <a:cs typeface="Josefin Sans Bold"/>
                  <a:sym typeface="Josefin Sans Bold"/>
                </a:rPr>
                <a:t>BƯỚC</a:t>
              </a:r>
            </a:p>
          </p:txBody>
        </p:sp>
        <p:sp>
          <p:nvSpPr>
            <p:cNvPr name="TextBox 15" id="15"/>
            <p:cNvSpPr txBox="true"/>
            <p:nvPr/>
          </p:nvSpPr>
          <p:spPr>
            <a:xfrm rot="0">
              <a:off x="0" y="906221"/>
              <a:ext cx="3574179" cy="548803"/>
            </a:xfrm>
            <a:prstGeom prst="rect">
              <a:avLst/>
            </a:prstGeom>
          </p:spPr>
          <p:txBody>
            <a:bodyPr anchor="t" rtlCol="false" tIns="0" lIns="0" bIns="0" rIns="0">
              <a:spAutoFit/>
            </a:bodyPr>
            <a:lstStyle/>
            <a:p>
              <a:pPr algn="ctr">
                <a:lnSpc>
                  <a:spcPts val="3359"/>
                </a:lnSpc>
              </a:pPr>
              <a:r>
                <a:rPr lang="en-US" b="true" sz="2400">
                  <a:solidFill>
                    <a:srgbClr val="2B4B82"/>
                  </a:solidFill>
                  <a:latin typeface="Josefin Sans Bold"/>
                  <a:ea typeface="Josefin Sans Bold"/>
                  <a:cs typeface="Josefin Sans Bold"/>
                  <a:sym typeface="Josefin Sans Bold"/>
                </a:rPr>
                <a:t>Hiển thị kết quả</a:t>
              </a:r>
            </a:p>
          </p:txBody>
        </p:sp>
      </p:grpSp>
      <p:grpSp>
        <p:nvGrpSpPr>
          <p:cNvPr name="Group 16" id="16"/>
          <p:cNvGrpSpPr/>
          <p:nvPr/>
        </p:nvGrpSpPr>
        <p:grpSpPr>
          <a:xfrm rot="0">
            <a:off x="3660468" y="3214670"/>
            <a:ext cx="10856451" cy="670560"/>
            <a:chOff x="0" y="0"/>
            <a:chExt cx="14475267" cy="894080"/>
          </a:xfrm>
        </p:grpSpPr>
        <p:sp>
          <p:nvSpPr>
            <p:cNvPr name="TextBox 17" id="17"/>
            <p:cNvSpPr txBox="true"/>
            <p:nvPr/>
          </p:nvSpPr>
          <p:spPr>
            <a:xfrm rot="0">
              <a:off x="0" y="-104775"/>
              <a:ext cx="804493" cy="998855"/>
            </a:xfrm>
            <a:prstGeom prst="rect">
              <a:avLst/>
            </a:prstGeom>
          </p:spPr>
          <p:txBody>
            <a:bodyPr anchor="t" rtlCol="false" tIns="0" lIns="0" bIns="0" rIns="0">
              <a:spAutoFit/>
            </a:bodyPr>
            <a:lstStyle/>
            <a:p>
              <a:pPr algn="ctr">
                <a:lnSpc>
                  <a:spcPts val="6160"/>
                </a:lnSpc>
              </a:pPr>
              <a:r>
                <a:rPr lang="en-US" b="true" sz="4400" spc="752">
                  <a:solidFill>
                    <a:srgbClr val="2B4B82"/>
                  </a:solidFill>
                  <a:latin typeface="Josefin Sans Bold"/>
                  <a:ea typeface="Josefin Sans Bold"/>
                  <a:cs typeface="Josefin Sans Bold"/>
                  <a:sym typeface="Josefin Sans Bold"/>
                </a:rPr>
                <a:t>1</a:t>
              </a:r>
            </a:p>
          </p:txBody>
        </p:sp>
        <p:sp>
          <p:nvSpPr>
            <p:cNvPr name="TextBox 18" id="18"/>
            <p:cNvSpPr txBox="true"/>
            <p:nvPr/>
          </p:nvSpPr>
          <p:spPr>
            <a:xfrm rot="0">
              <a:off x="4575484" y="-104775"/>
              <a:ext cx="804493" cy="998855"/>
            </a:xfrm>
            <a:prstGeom prst="rect">
              <a:avLst/>
            </a:prstGeom>
          </p:spPr>
          <p:txBody>
            <a:bodyPr anchor="t" rtlCol="false" tIns="0" lIns="0" bIns="0" rIns="0">
              <a:spAutoFit/>
            </a:bodyPr>
            <a:lstStyle/>
            <a:p>
              <a:pPr algn="ctr">
                <a:lnSpc>
                  <a:spcPts val="6160"/>
                </a:lnSpc>
              </a:pPr>
              <a:r>
                <a:rPr lang="en-US" b="true" sz="4400" spc="752">
                  <a:solidFill>
                    <a:srgbClr val="2B4B82"/>
                  </a:solidFill>
                  <a:latin typeface="Josefin Sans Bold"/>
                  <a:ea typeface="Josefin Sans Bold"/>
                  <a:cs typeface="Josefin Sans Bold"/>
                  <a:sym typeface="Josefin Sans Bold"/>
                </a:rPr>
                <a:t>2</a:t>
              </a:r>
            </a:p>
          </p:txBody>
        </p:sp>
        <p:sp>
          <p:nvSpPr>
            <p:cNvPr name="TextBox 19" id="19"/>
            <p:cNvSpPr txBox="true"/>
            <p:nvPr/>
          </p:nvSpPr>
          <p:spPr>
            <a:xfrm rot="0">
              <a:off x="8926794" y="-104775"/>
              <a:ext cx="804493" cy="998855"/>
            </a:xfrm>
            <a:prstGeom prst="rect">
              <a:avLst/>
            </a:prstGeom>
          </p:spPr>
          <p:txBody>
            <a:bodyPr anchor="t" rtlCol="false" tIns="0" lIns="0" bIns="0" rIns="0">
              <a:spAutoFit/>
            </a:bodyPr>
            <a:lstStyle/>
            <a:p>
              <a:pPr algn="ctr">
                <a:lnSpc>
                  <a:spcPts val="6160"/>
                </a:lnSpc>
              </a:pPr>
              <a:r>
                <a:rPr lang="en-US" b="true" sz="4400" spc="752">
                  <a:solidFill>
                    <a:srgbClr val="2B4B82"/>
                  </a:solidFill>
                  <a:latin typeface="Josefin Sans Bold"/>
                  <a:ea typeface="Josefin Sans Bold"/>
                  <a:cs typeface="Josefin Sans Bold"/>
                  <a:sym typeface="Josefin Sans Bold"/>
                </a:rPr>
                <a:t>3</a:t>
              </a:r>
            </a:p>
          </p:txBody>
        </p:sp>
        <p:sp>
          <p:nvSpPr>
            <p:cNvPr name="TextBox 20" id="20"/>
            <p:cNvSpPr txBox="true"/>
            <p:nvPr/>
          </p:nvSpPr>
          <p:spPr>
            <a:xfrm rot="0">
              <a:off x="13670775" y="-104775"/>
              <a:ext cx="804493" cy="998855"/>
            </a:xfrm>
            <a:prstGeom prst="rect">
              <a:avLst/>
            </a:prstGeom>
          </p:spPr>
          <p:txBody>
            <a:bodyPr anchor="t" rtlCol="false" tIns="0" lIns="0" bIns="0" rIns="0">
              <a:spAutoFit/>
            </a:bodyPr>
            <a:lstStyle/>
            <a:p>
              <a:pPr algn="ctr">
                <a:lnSpc>
                  <a:spcPts val="6160"/>
                </a:lnSpc>
              </a:pPr>
              <a:r>
                <a:rPr lang="en-US" b="true" sz="4400" spc="752">
                  <a:solidFill>
                    <a:srgbClr val="2B4B82"/>
                  </a:solidFill>
                  <a:latin typeface="Josefin Sans Bold"/>
                  <a:ea typeface="Josefin Sans Bold"/>
                  <a:cs typeface="Josefin Sans Bold"/>
                  <a:sym typeface="Josefin Sans Bold"/>
                </a:rPr>
                <a:t>4</a:t>
              </a:r>
            </a:p>
          </p:txBody>
        </p:sp>
        <p:sp>
          <p:nvSpPr>
            <p:cNvPr name="AutoShape 21" id="21"/>
            <p:cNvSpPr/>
            <p:nvPr/>
          </p:nvSpPr>
          <p:spPr>
            <a:xfrm>
              <a:off x="804493" y="414443"/>
              <a:ext cx="3529461" cy="0"/>
            </a:xfrm>
            <a:prstGeom prst="line">
              <a:avLst/>
            </a:prstGeom>
            <a:ln cap="flat" w="38100">
              <a:solidFill>
                <a:srgbClr val="2B4B82"/>
              </a:solidFill>
              <a:prstDash val="solid"/>
              <a:headEnd type="none" len="sm" w="sm"/>
              <a:tailEnd type="none" len="sm" w="sm"/>
            </a:ln>
          </p:spPr>
        </p:sp>
        <p:sp>
          <p:nvSpPr>
            <p:cNvPr name="AutoShape 22" id="22"/>
            <p:cNvSpPr/>
            <p:nvPr/>
          </p:nvSpPr>
          <p:spPr>
            <a:xfrm>
              <a:off x="5397334" y="414443"/>
              <a:ext cx="3529461" cy="0"/>
            </a:xfrm>
            <a:prstGeom prst="line">
              <a:avLst/>
            </a:prstGeom>
            <a:ln cap="flat" w="38100">
              <a:solidFill>
                <a:srgbClr val="2B4B82"/>
              </a:solidFill>
              <a:prstDash val="solid"/>
              <a:headEnd type="none" len="sm" w="sm"/>
              <a:tailEnd type="none" len="sm" w="sm"/>
            </a:ln>
          </p:spPr>
        </p:sp>
        <p:sp>
          <p:nvSpPr>
            <p:cNvPr name="AutoShape 23" id="23"/>
            <p:cNvSpPr/>
            <p:nvPr/>
          </p:nvSpPr>
          <p:spPr>
            <a:xfrm>
              <a:off x="9980379" y="414443"/>
              <a:ext cx="3529461" cy="0"/>
            </a:xfrm>
            <a:prstGeom prst="line">
              <a:avLst/>
            </a:prstGeom>
            <a:ln cap="flat" w="38100">
              <a:solidFill>
                <a:srgbClr val="2B4B82"/>
              </a:solidFill>
              <a:prstDash val="solid"/>
              <a:headEnd type="none" len="sm" w="sm"/>
              <a:tailEnd type="none" len="sm" w="sm"/>
            </a:ln>
          </p:spPr>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94DDDE"/>
        </a:solidFill>
      </p:bgPr>
    </p:bg>
    <p:spTree>
      <p:nvGrpSpPr>
        <p:cNvPr id="1" name=""/>
        <p:cNvGrpSpPr/>
        <p:nvPr/>
      </p:nvGrpSpPr>
      <p:grpSpPr>
        <a:xfrm>
          <a:off x="0" y="0"/>
          <a:ext cx="0" cy="0"/>
          <a:chOff x="0" y="0"/>
          <a:chExt cx="0" cy="0"/>
        </a:xfrm>
      </p:grpSpPr>
      <p:sp>
        <p:nvSpPr>
          <p:cNvPr name="Freeform 2" id="2"/>
          <p:cNvSpPr/>
          <p:nvPr/>
        </p:nvSpPr>
        <p:spPr>
          <a:xfrm flipH="false" flipV="false" rot="0">
            <a:off x="9715669" y="2181542"/>
            <a:ext cx="7307530" cy="5923917"/>
          </a:xfrm>
          <a:custGeom>
            <a:avLst/>
            <a:gdLst/>
            <a:ahLst/>
            <a:cxnLst/>
            <a:rect r="r" b="b" t="t" l="l"/>
            <a:pathLst>
              <a:path h="5923917" w="7307530">
                <a:moveTo>
                  <a:pt x="0" y="0"/>
                </a:moveTo>
                <a:lnTo>
                  <a:pt x="7307530" y="0"/>
                </a:lnTo>
                <a:lnTo>
                  <a:pt x="7307530" y="5923916"/>
                </a:lnTo>
                <a:lnTo>
                  <a:pt x="0" y="5923916"/>
                </a:lnTo>
                <a:lnTo>
                  <a:pt x="0" y="0"/>
                </a:lnTo>
                <a:close/>
              </a:path>
            </a:pathLst>
          </a:custGeom>
          <a:blipFill>
            <a:blip r:embed="rId2"/>
            <a:stretch>
              <a:fillRect l="0" t="0" r="0" b="0"/>
            </a:stretch>
          </a:blipFill>
        </p:spPr>
      </p:sp>
      <p:sp>
        <p:nvSpPr>
          <p:cNvPr name="TextBox 3" id="3"/>
          <p:cNvSpPr txBox="true"/>
          <p:nvPr/>
        </p:nvSpPr>
        <p:spPr>
          <a:xfrm rot="0">
            <a:off x="1028700" y="1240805"/>
            <a:ext cx="9768230" cy="990600"/>
          </a:xfrm>
          <a:prstGeom prst="rect">
            <a:avLst/>
          </a:prstGeom>
        </p:spPr>
        <p:txBody>
          <a:bodyPr anchor="t" rtlCol="false" tIns="0" lIns="0" bIns="0" rIns="0">
            <a:spAutoFit/>
          </a:bodyPr>
          <a:lstStyle/>
          <a:p>
            <a:pPr algn="l">
              <a:lnSpc>
                <a:spcPts val="7680"/>
              </a:lnSpc>
            </a:pPr>
            <a:r>
              <a:rPr lang="en-US" sz="6400">
                <a:solidFill>
                  <a:srgbClr val="31356E"/>
                </a:solidFill>
                <a:latin typeface="Josefin Sans"/>
                <a:ea typeface="Josefin Sans"/>
                <a:cs typeface="Josefin Sans"/>
                <a:sym typeface="Josefin Sans"/>
              </a:rPr>
              <a:t>Thu thập dữ liệu đầu vào</a:t>
            </a:r>
          </a:p>
        </p:txBody>
      </p:sp>
      <p:sp>
        <p:nvSpPr>
          <p:cNvPr name="TextBox 4" id="4"/>
          <p:cNvSpPr txBox="true"/>
          <p:nvPr/>
        </p:nvSpPr>
        <p:spPr>
          <a:xfrm rot="0">
            <a:off x="611210" y="3218685"/>
            <a:ext cx="8093102" cy="4829175"/>
          </a:xfrm>
          <a:prstGeom prst="rect">
            <a:avLst/>
          </a:prstGeom>
        </p:spPr>
        <p:txBody>
          <a:bodyPr anchor="t" rtlCol="false" tIns="0" lIns="0" bIns="0" rIns="0">
            <a:spAutoFit/>
          </a:bodyPr>
          <a:lstStyle/>
          <a:p>
            <a:pPr algn="l">
              <a:lnSpc>
                <a:spcPts val="3480"/>
              </a:lnSpc>
            </a:pPr>
            <a:r>
              <a:rPr lang="en-US" sz="2900">
                <a:solidFill>
                  <a:srgbClr val="2B4B82"/>
                </a:solidFill>
                <a:latin typeface="Josefin Sans"/>
                <a:ea typeface="Josefin Sans"/>
                <a:cs typeface="Josefin Sans"/>
                <a:sym typeface="Josefin Sans"/>
              </a:rPr>
              <a:t>Air Writing (vẽ trên không)</a:t>
            </a:r>
          </a:p>
          <a:p>
            <a:pPr algn="l" marL="626111" indent="-313055" lvl="1">
              <a:lnSpc>
                <a:spcPts val="3480"/>
              </a:lnSpc>
              <a:buFont typeface="Arial"/>
              <a:buChar char="•"/>
            </a:pPr>
            <a:r>
              <a:rPr lang="en-US" sz="2900">
                <a:solidFill>
                  <a:srgbClr val="2B4B82"/>
                </a:solidFill>
                <a:latin typeface="Josefin Sans"/>
                <a:ea typeface="Josefin Sans"/>
                <a:cs typeface="Josefin Sans"/>
                <a:sym typeface="Josefin Sans"/>
              </a:rPr>
              <a:t>Mở camera và bắt đầu capture frame</a:t>
            </a:r>
          </a:p>
          <a:p>
            <a:pPr algn="l" marL="626111" indent="-313055" lvl="1">
              <a:lnSpc>
                <a:spcPts val="3480"/>
              </a:lnSpc>
              <a:buFont typeface="Arial"/>
              <a:buChar char="•"/>
            </a:pPr>
            <a:r>
              <a:rPr lang="en-US" sz="2900">
                <a:solidFill>
                  <a:srgbClr val="2B4B82"/>
                </a:solidFill>
                <a:latin typeface="Josefin Sans"/>
                <a:ea typeface="Josefin Sans"/>
                <a:cs typeface="Josefin Sans"/>
                <a:sym typeface="Josefin Sans"/>
              </a:rPr>
              <a:t>Sử dụng MediaPipe Hands để phát hiện bàn tay</a:t>
            </a:r>
          </a:p>
          <a:p>
            <a:pPr algn="l" marL="626111" indent="-313055" lvl="1">
              <a:lnSpc>
                <a:spcPts val="3480"/>
              </a:lnSpc>
              <a:buFont typeface="Arial"/>
              <a:buChar char="•"/>
            </a:pPr>
            <a:r>
              <a:rPr lang="en-US" sz="2900">
                <a:solidFill>
                  <a:srgbClr val="2B4B82"/>
                </a:solidFill>
                <a:latin typeface="Josefin Sans"/>
                <a:ea typeface="Josefin Sans"/>
                <a:cs typeface="Josefin Sans"/>
                <a:sym typeface="Josefin Sans"/>
              </a:rPr>
              <a:t>Theo dõi ngón trỏ (INDEX_FINGER_TIP)</a:t>
            </a:r>
          </a:p>
          <a:p>
            <a:pPr algn="l" marL="626111" indent="-313055" lvl="1">
              <a:lnSpc>
                <a:spcPts val="3480"/>
              </a:lnSpc>
              <a:buFont typeface="Arial"/>
              <a:buChar char="•"/>
            </a:pPr>
            <a:r>
              <a:rPr lang="en-US" sz="2900">
                <a:solidFill>
                  <a:srgbClr val="2B4B82"/>
                </a:solidFill>
                <a:latin typeface="Josefin Sans"/>
                <a:ea typeface="Josefin Sans"/>
                <a:cs typeface="Josefin Sans"/>
                <a:sym typeface="Josefin Sans"/>
              </a:rPr>
              <a:t>Áp dụng smoothing filter để giảm rung</a:t>
            </a:r>
          </a:p>
          <a:p>
            <a:pPr algn="l" marL="626111" indent="-313055" lvl="1">
              <a:lnSpc>
                <a:spcPts val="3480"/>
              </a:lnSpc>
              <a:buFont typeface="Arial"/>
              <a:buChar char="•"/>
            </a:pPr>
            <a:r>
              <a:rPr lang="en-US" sz="2900">
                <a:solidFill>
                  <a:srgbClr val="2B4B82"/>
                </a:solidFill>
                <a:latin typeface="Josefin Sans"/>
                <a:ea typeface="Josefin Sans"/>
                <a:cs typeface="Josefin Sans"/>
                <a:sym typeface="Josefin Sans"/>
              </a:rPr>
              <a:t>Vẽ lên canvas khi người dùng bật chế độ vẽ </a:t>
            </a:r>
          </a:p>
          <a:p>
            <a:pPr algn="l">
              <a:lnSpc>
                <a:spcPts val="3480"/>
              </a:lnSpc>
            </a:pPr>
          </a:p>
          <a:p>
            <a:pPr algn="l">
              <a:lnSpc>
                <a:spcPts val="3480"/>
              </a:lnSpc>
            </a:pPr>
          </a:p>
          <a:p>
            <a:pPr algn="l">
              <a:lnSpc>
                <a:spcPts val="3480"/>
              </a:lnSpc>
            </a:pPr>
          </a:p>
          <a:p>
            <a:pPr algn="l">
              <a:lnSpc>
                <a:spcPts val="3480"/>
              </a:lnSpc>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94DDDE"/>
        </a:solidFill>
      </p:bgPr>
    </p:bg>
    <p:spTree>
      <p:nvGrpSpPr>
        <p:cNvPr id="1" name=""/>
        <p:cNvGrpSpPr/>
        <p:nvPr/>
      </p:nvGrpSpPr>
      <p:grpSpPr>
        <a:xfrm>
          <a:off x="0" y="0"/>
          <a:ext cx="0" cy="0"/>
          <a:chOff x="0" y="0"/>
          <a:chExt cx="0" cy="0"/>
        </a:xfrm>
      </p:grpSpPr>
      <p:sp>
        <p:nvSpPr>
          <p:cNvPr name="Freeform 2" id="2"/>
          <p:cNvSpPr/>
          <p:nvPr/>
        </p:nvSpPr>
        <p:spPr>
          <a:xfrm flipH="false" flipV="false" rot="0">
            <a:off x="3381436" y="2231405"/>
            <a:ext cx="11181611" cy="7477702"/>
          </a:xfrm>
          <a:custGeom>
            <a:avLst/>
            <a:gdLst/>
            <a:ahLst/>
            <a:cxnLst/>
            <a:rect r="r" b="b" t="t" l="l"/>
            <a:pathLst>
              <a:path h="7477702" w="11181611">
                <a:moveTo>
                  <a:pt x="0" y="0"/>
                </a:moveTo>
                <a:lnTo>
                  <a:pt x="11181611" y="0"/>
                </a:lnTo>
                <a:lnTo>
                  <a:pt x="11181611" y="7477703"/>
                </a:lnTo>
                <a:lnTo>
                  <a:pt x="0" y="7477703"/>
                </a:lnTo>
                <a:lnTo>
                  <a:pt x="0" y="0"/>
                </a:lnTo>
                <a:close/>
              </a:path>
            </a:pathLst>
          </a:custGeom>
          <a:blipFill>
            <a:blip r:embed="rId2"/>
            <a:stretch>
              <a:fillRect l="0" t="0" r="0" b="0"/>
            </a:stretch>
          </a:blipFill>
        </p:spPr>
      </p:sp>
      <p:sp>
        <p:nvSpPr>
          <p:cNvPr name="TextBox 3" id="3"/>
          <p:cNvSpPr txBox="true"/>
          <p:nvPr/>
        </p:nvSpPr>
        <p:spPr>
          <a:xfrm rot="0">
            <a:off x="1028700" y="1240805"/>
            <a:ext cx="9768230" cy="990600"/>
          </a:xfrm>
          <a:prstGeom prst="rect">
            <a:avLst/>
          </a:prstGeom>
        </p:spPr>
        <p:txBody>
          <a:bodyPr anchor="t" rtlCol="false" tIns="0" lIns="0" bIns="0" rIns="0">
            <a:spAutoFit/>
          </a:bodyPr>
          <a:lstStyle/>
          <a:p>
            <a:pPr algn="l">
              <a:lnSpc>
                <a:spcPts val="7680"/>
              </a:lnSpc>
            </a:pPr>
            <a:r>
              <a:rPr lang="en-US" sz="6400">
                <a:solidFill>
                  <a:srgbClr val="31356E"/>
                </a:solidFill>
                <a:latin typeface="Josefin Sans"/>
                <a:ea typeface="Josefin Sans"/>
                <a:cs typeface="Josefin Sans"/>
                <a:sym typeface="Josefin Sans"/>
              </a:rPr>
              <a:t>Thu thập dữ liệu đầu vào</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94DDDE"/>
        </a:solidFill>
      </p:bgPr>
    </p:bg>
    <p:spTree>
      <p:nvGrpSpPr>
        <p:cNvPr id="1" name=""/>
        <p:cNvGrpSpPr/>
        <p:nvPr/>
      </p:nvGrpSpPr>
      <p:grpSpPr>
        <a:xfrm>
          <a:off x="0" y="0"/>
          <a:ext cx="0" cy="0"/>
          <a:chOff x="0" y="0"/>
          <a:chExt cx="0" cy="0"/>
        </a:xfrm>
      </p:grpSpPr>
      <p:sp>
        <p:nvSpPr>
          <p:cNvPr name="Freeform 2" id="2"/>
          <p:cNvSpPr/>
          <p:nvPr/>
        </p:nvSpPr>
        <p:spPr>
          <a:xfrm flipH="false" flipV="false" rot="0">
            <a:off x="490191" y="2231405"/>
            <a:ext cx="9567843" cy="7761912"/>
          </a:xfrm>
          <a:custGeom>
            <a:avLst/>
            <a:gdLst/>
            <a:ahLst/>
            <a:cxnLst/>
            <a:rect r="r" b="b" t="t" l="l"/>
            <a:pathLst>
              <a:path h="7761912" w="9567843">
                <a:moveTo>
                  <a:pt x="0" y="0"/>
                </a:moveTo>
                <a:lnTo>
                  <a:pt x="9567843" y="0"/>
                </a:lnTo>
                <a:lnTo>
                  <a:pt x="9567843" y="7761913"/>
                </a:lnTo>
                <a:lnTo>
                  <a:pt x="0" y="7761913"/>
                </a:lnTo>
                <a:lnTo>
                  <a:pt x="0" y="0"/>
                </a:lnTo>
                <a:close/>
              </a:path>
            </a:pathLst>
          </a:custGeom>
          <a:blipFill>
            <a:blip r:embed="rId2"/>
            <a:stretch>
              <a:fillRect l="0" t="0" r="0" b="0"/>
            </a:stretch>
          </a:blipFill>
        </p:spPr>
      </p:sp>
      <p:sp>
        <p:nvSpPr>
          <p:cNvPr name="Freeform 3" id="3"/>
          <p:cNvSpPr/>
          <p:nvPr/>
        </p:nvSpPr>
        <p:spPr>
          <a:xfrm flipH="false" flipV="false" rot="0">
            <a:off x="10058034" y="3119348"/>
            <a:ext cx="7944641" cy="5471712"/>
          </a:xfrm>
          <a:custGeom>
            <a:avLst/>
            <a:gdLst/>
            <a:ahLst/>
            <a:cxnLst/>
            <a:rect r="r" b="b" t="t" l="l"/>
            <a:pathLst>
              <a:path h="5471712" w="7944641">
                <a:moveTo>
                  <a:pt x="0" y="0"/>
                </a:moveTo>
                <a:lnTo>
                  <a:pt x="7944641" y="0"/>
                </a:lnTo>
                <a:lnTo>
                  <a:pt x="7944641" y="5471711"/>
                </a:lnTo>
                <a:lnTo>
                  <a:pt x="0" y="5471711"/>
                </a:lnTo>
                <a:lnTo>
                  <a:pt x="0" y="0"/>
                </a:lnTo>
                <a:close/>
              </a:path>
            </a:pathLst>
          </a:custGeom>
          <a:blipFill>
            <a:blip r:embed="rId3"/>
            <a:stretch>
              <a:fillRect l="0" t="0" r="0" b="0"/>
            </a:stretch>
          </a:blipFill>
        </p:spPr>
      </p:sp>
      <p:sp>
        <p:nvSpPr>
          <p:cNvPr name="TextBox 4" id="4"/>
          <p:cNvSpPr txBox="true"/>
          <p:nvPr/>
        </p:nvSpPr>
        <p:spPr>
          <a:xfrm rot="0">
            <a:off x="1028700" y="1240805"/>
            <a:ext cx="9768230" cy="990600"/>
          </a:xfrm>
          <a:prstGeom prst="rect">
            <a:avLst/>
          </a:prstGeom>
        </p:spPr>
        <p:txBody>
          <a:bodyPr anchor="t" rtlCol="false" tIns="0" lIns="0" bIns="0" rIns="0">
            <a:spAutoFit/>
          </a:bodyPr>
          <a:lstStyle/>
          <a:p>
            <a:pPr algn="l">
              <a:lnSpc>
                <a:spcPts val="7680"/>
              </a:lnSpc>
            </a:pPr>
            <a:r>
              <a:rPr lang="en-US" sz="6400">
                <a:solidFill>
                  <a:srgbClr val="31356E"/>
                </a:solidFill>
                <a:latin typeface="Josefin Sans"/>
                <a:ea typeface="Josefin Sans"/>
                <a:cs typeface="Josefin Sans"/>
                <a:sym typeface="Josefin Sans"/>
              </a:rPr>
              <a:t>Thu thập dữ liệu đầu vào</a:t>
            </a:r>
          </a:p>
        </p:txBody>
      </p:sp>
    </p:spTree>
  </p:cSld>
  <p:clrMapOvr>
    <a:masterClrMapping/>
  </p:clrMapOvr>
</p:sld>
</file>

<file path=ppt/slides/slide25.xml><?xml version="1.0" encoding="utf-8"?>
<p:sld xmlns:p="http://schemas.openxmlformats.org/presentationml/2006/main" xmlns:a="http://schemas.openxmlformats.org/drawingml/2006/main">
  <p:cSld>
    <p:bg>
      <p:bgPr>
        <a:solidFill>
          <a:srgbClr val="94DDDE"/>
        </a:solidFill>
      </p:bgPr>
    </p:bg>
    <p:spTree>
      <p:nvGrpSpPr>
        <p:cNvPr id="1" name=""/>
        <p:cNvGrpSpPr/>
        <p:nvPr/>
      </p:nvGrpSpPr>
      <p:grpSpPr>
        <a:xfrm>
          <a:off x="0" y="0"/>
          <a:ext cx="0" cy="0"/>
          <a:chOff x="0" y="0"/>
          <a:chExt cx="0" cy="0"/>
        </a:xfrm>
      </p:grpSpPr>
      <p:sp>
        <p:nvSpPr>
          <p:cNvPr name="TextBox 2" id="2"/>
          <p:cNvSpPr txBox="true"/>
          <p:nvPr/>
        </p:nvSpPr>
        <p:spPr>
          <a:xfrm rot="0">
            <a:off x="1028700" y="1240805"/>
            <a:ext cx="9768230" cy="990600"/>
          </a:xfrm>
          <a:prstGeom prst="rect">
            <a:avLst/>
          </a:prstGeom>
        </p:spPr>
        <p:txBody>
          <a:bodyPr anchor="t" rtlCol="false" tIns="0" lIns="0" bIns="0" rIns="0">
            <a:spAutoFit/>
          </a:bodyPr>
          <a:lstStyle/>
          <a:p>
            <a:pPr algn="l">
              <a:lnSpc>
                <a:spcPts val="7680"/>
              </a:lnSpc>
            </a:pPr>
            <a:r>
              <a:rPr lang="en-US" sz="6400">
                <a:solidFill>
                  <a:srgbClr val="31356E"/>
                </a:solidFill>
                <a:latin typeface="Josefin Sans"/>
                <a:ea typeface="Josefin Sans"/>
                <a:cs typeface="Josefin Sans"/>
                <a:sym typeface="Josefin Sans"/>
              </a:rPr>
              <a:t>Tiền xử lý dữ liệu</a:t>
            </a:r>
          </a:p>
        </p:txBody>
      </p:sp>
      <p:sp>
        <p:nvSpPr>
          <p:cNvPr name="TextBox 3" id="3"/>
          <p:cNvSpPr txBox="true"/>
          <p:nvPr/>
        </p:nvSpPr>
        <p:spPr>
          <a:xfrm rot="0">
            <a:off x="3875815" y="3045718"/>
            <a:ext cx="10936703" cy="8236803"/>
          </a:xfrm>
          <a:prstGeom prst="rect">
            <a:avLst/>
          </a:prstGeom>
        </p:spPr>
        <p:txBody>
          <a:bodyPr anchor="t" rtlCol="false" tIns="0" lIns="0" bIns="0" rIns="0">
            <a:spAutoFit/>
          </a:bodyPr>
          <a:lstStyle/>
          <a:p>
            <a:pPr algn="l" marL="980857" indent="-490428" lvl="1">
              <a:lnSpc>
                <a:spcPts val="5451"/>
              </a:lnSpc>
              <a:buFont typeface="Arial"/>
              <a:buChar char="•"/>
            </a:pPr>
            <a:r>
              <a:rPr lang="en-US" sz="4543">
                <a:solidFill>
                  <a:srgbClr val="2B4B82"/>
                </a:solidFill>
                <a:latin typeface="Josefin Sans"/>
                <a:ea typeface="Josefin Sans"/>
                <a:cs typeface="Josefin Sans"/>
                <a:sym typeface="Josefin Sans"/>
              </a:rPr>
              <a:t>Chuyển ảnh từ rgb sang grayscale</a:t>
            </a:r>
          </a:p>
          <a:p>
            <a:pPr algn="l" marL="980857" indent="-490428" lvl="1">
              <a:lnSpc>
                <a:spcPts val="5451"/>
              </a:lnSpc>
              <a:buFont typeface="Arial"/>
              <a:buChar char="•"/>
            </a:pPr>
            <a:r>
              <a:rPr lang="en-US" sz="4543">
                <a:solidFill>
                  <a:srgbClr val="2B4B82"/>
                </a:solidFill>
                <a:latin typeface="Josefin Sans"/>
                <a:ea typeface="Josefin Sans"/>
                <a:cs typeface="Josefin Sans"/>
                <a:sym typeface="Josefin Sans"/>
              </a:rPr>
              <a:t>Phân ngưỡng và đảo ngược (nếu cần)</a:t>
            </a:r>
          </a:p>
          <a:p>
            <a:pPr algn="l" marL="980857" indent="-490428" lvl="1">
              <a:lnSpc>
                <a:spcPts val="5451"/>
              </a:lnSpc>
              <a:buFont typeface="Arial"/>
              <a:buChar char="•"/>
            </a:pPr>
            <a:r>
              <a:rPr lang="en-US" sz="4543">
                <a:solidFill>
                  <a:srgbClr val="2B4B82"/>
                </a:solidFill>
                <a:latin typeface="Josefin Sans"/>
                <a:ea typeface="Josefin Sans"/>
                <a:cs typeface="Josefin Sans"/>
                <a:sym typeface="Josefin Sans"/>
              </a:rPr>
              <a:t>Tìm bounding box</a:t>
            </a:r>
          </a:p>
          <a:p>
            <a:pPr algn="l" marL="980857" indent="-490428" lvl="1">
              <a:lnSpc>
                <a:spcPts val="5451"/>
              </a:lnSpc>
              <a:buFont typeface="Arial"/>
              <a:buChar char="•"/>
            </a:pPr>
            <a:r>
              <a:rPr lang="en-US" sz="4543">
                <a:solidFill>
                  <a:srgbClr val="2B4B82"/>
                </a:solidFill>
                <a:latin typeface="Josefin Sans"/>
                <a:ea typeface="Josefin Sans"/>
                <a:cs typeface="Josefin Sans"/>
                <a:sym typeface="Josefin Sans"/>
              </a:rPr>
              <a:t>Crop theo bounding box</a:t>
            </a:r>
          </a:p>
          <a:p>
            <a:pPr algn="l" marL="980857" indent="-490428" lvl="1">
              <a:lnSpc>
                <a:spcPts val="5451"/>
              </a:lnSpc>
              <a:buFont typeface="Arial"/>
              <a:buChar char="•"/>
            </a:pPr>
            <a:r>
              <a:rPr lang="en-US" sz="4543">
                <a:solidFill>
                  <a:srgbClr val="2B4B82"/>
                </a:solidFill>
                <a:latin typeface="Josefin Sans"/>
                <a:ea typeface="Josefin Sans"/>
                <a:cs typeface="Josefin Sans"/>
                <a:sym typeface="Josefin Sans"/>
              </a:rPr>
              <a:t>Padding ảnh thành ảnh vuông</a:t>
            </a:r>
          </a:p>
          <a:p>
            <a:pPr algn="l" marL="980857" indent="-490428" lvl="1">
              <a:lnSpc>
                <a:spcPts val="5451"/>
              </a:lnSpc>
              <a:buFont typeface="Arial"/>
              <a:buChar char="•"/>
            </a:pPr>
            <a:r>
              <a:rPr lang="en-US" sz="4543">
                <a:solidFill>
                  <a:srgbClr val="2B4B82"/>
                </a:solidFill>
                <a:latin typeface="Josefin Sans"/>
                <a:ea typeface="Josefin Sans"/>
                <a:cs typeface="Josefin Sans"/>
                <a:sym typeface="Josefin Sans"/>
              </a:rPr>
              <a:t>Resize ảnh</a:t>
            </a:r>
          </a:p>
          <a:p>
            <a:pPr algn="l" marL="980857" indent="-490428" lvl="1">
              <a:lnSpc>
                <a:spcPts val="5451"/>
              </a:lnSpc>
              <a:buFont typeface="Arial"/>
              <a:buChar char="•"/>
            </a:pPr>
            <a:r>
              <a:rPr lang="en-US" sz="4543">
                <a:solidFill>
                  <a:srgbClr val="2B4B82"/>
                </a:solidFill>
                <a:latin typeface="Josefin Sans"/>
                <a:ea typeface="Josefin Sans"/>
                <a:cs typeface="Josefin Sans"/>
                <a:sym typeface="Josefin Sans"/>
              </a:rPr>
              <a:t>Thêm border padding 4px → 28x28</a:t>
            </a:r>
          </a:p>
          <a:p>
            <a:pPr algn="l" marL="980857" indent="-490428" lvl="1">
              <a:lnSpc>
                <a:spcPts val="5451"/>
              </a:lnSpc>
              <a:buFont typeface="Arial"/>
              <a:buChar char="•"/>
            </a:pPr>
            <a:r>
              <a:rPr lang="en-US" sz="4543">
                <a:solidFill>
                  <a:srgbClr val="2B4B82"/>
                </a:solidFill>
                <a:latin typeface="Josefin Sans"/>
                <a:ea typeface="Josefin Sans"/>
                <a:cs typeface="Josefin Sans"/>
                <a:sym typeface="Josefin Sans"/>
              </a:rPr>
              <a:t>Normalize về [0, 1]</a:t>
            </a:r>
          </a:p>
          <a:p>
            <a:pPr algn="l">
              <a:lnSpc>
                <a:spcPts val="5451"/>
              </a:lnSpc>
            </a:pPr>
          </a:p>
          <a:p>
            <a:pPr algn="l">
              <a:lnSpc>
                <a:spcPts val="5451"/>
              </a:lnSpc>
            </a:pPr>
          </a:p>
          <a:p>
            <a:pPr algn="l">
              <a:lnSpc>
                <a:spcPts val="5451"/>
              </a:lnSpc>
            </a:pPr>
          </a:p>
          <a:p>
            <a:pPr algn="l">
              <a:lnSpc>
                <a:spcPts val="5451"/>
              </a:lnSpc>
            </a:pPr>
          </a:p>
        </p:txBody>
      </p:sp>
    </p:spTree>
  </p:cSld>
  <p:clrMapOvr>
    <a:masterClrMapping/>
  </p:clrMapOvr>
</p:sld>
</file>

<file path=ppt/slides/slide26.xml><?xml version="1.0" encoding="utf-8"?>
<p:sld xmlns:p="http://schemas.openxmlformats.org/presentationml/2006/main" xmlns:a="http://schemas.openxmlformats.org/drawingml/2006/main">
  <p:cSld>
    <p:bg>
      <p:bgPr>
        <a:solidFill>
          <a:srgbClr val="94DDDE"/>
        </a:solidFill>
      </p:bgPr>
    </p:bg>
    <p:spTree>
      <p:nvGrpSpPr>
        <p:cNvPr id="1" name=""/>
        <p:cNvGrpSpPr/>
        <p:nvPr/>
      </p:nvGrpSpPr>
      <p:grpSpPr>
        <a:xfrm>
          <a:off x="0" y="0"/>
          <a:ext cx="0" cy="0"/>
          <a:chOff x="0" y="0"/>
          <a:chExt cx="0" cy="0"/>
        </a:xfrm>
      </p:grpSpPr>
      <p:sp>
        <p:nvSpPr>
          <p:cNvPr name="TextBox 2" id="2"/>
          <p:cNvSpPr txBox="true"/>
          <p:nvPr/>
        </p:nvSpPr>
        <p:spPr>
          <a:xfrm rot="0">
            <a:off x="1028700" y="1240805"/>
            <a:ext cx="9768230" cy="990600"/>
          </a:xfrm>
          <a:prstGeom prst="rect">
            <a:avLst/>
          </a:prstGeom>
        </p:spPr>
        <p:txBody>
          <a:bodyPr anchor="t" rtlCol="false" tIns="0" lIns="0" bIns="0" rIns="0">
            <a:spAutoFit/>
          </a:bodyPr>
          <a:lstStyle/>
          <a:p>
            <a:pPr algn="l">
              <a:lnSpc>
                <a:spcPts val="7680"/>
              </a:lnSpc>
            </a:pPr>
            <a:r>
              <a:rPr lang="en-US" sz="6400">
                <a:solidFill>
                  <a:srgbClr val="31356E"/>
                </a:solidFill>
                <a:latin typeface="Josefin Sans"/>
                <a:ea typeface="Josefin Sans"/>
                <a:cs typeface="Josefin Sans"/>
                <a:sym typeface="Josefin Sans"/>
              </a:rPr>
              <a:t>Dự đoán</a:t>
            </a:r>
          </a:p>
        </p:txBody>
      </p:sp>
      <p:sp>
        <p:nvSpPr>
          <p:cNvPr name="TextBox 3" id="3"/>
          <p:cNvSpPr txBox="true"/>
          <p:nvPr/>
        </p:nvSpPr>
        <p:spPr>
          <a:xfrm rot="0">
            <a:off x="3159901" y="2692044"/>
            <a:ext cx="11968198" cy="8432779"/>
          </a:xfrm>
          <a:prstGeom prst="rect">
            <a:avLst/>
          </a:prstGeom>
        </p:spPr>
        <p:txBody>
          <a:bodyPr anchor="t" rtlCol="false" tIns="0" lIns="0" bIns="0" rIns="0">
            <a:spAutoFit/>
          </a:bodyPr>
          <a:lstStyle/>
          <a:p>
            <a:pPr algn="l" marL="925901" indent="-462951" lvl="1">
              <a:lnSpc>
                <a:spcPts val="5146"/>
              </a:lnSpc>
              <a:buFont typeface="Arial"/>
              <a:buChar char="•"/>
            </a:pPr>
            <a:r>
              <a:rPr lang="en-US" sz="4288">
                <a:solidFill>
                  <a:srgbClr val="2B4B82"/>
                </a:solidFill>
                <a:latin typeface="Josefin Sans"/>
                <a:ea typeface="Josefin Sans"/>
                <a:cs typeface="Josefin Sans"/>
                <a:sym typeface="Josefin Sans"/>
              </a:rPr>
              <a:t>Nhận diện chữ số viết tay</a:t>
            </a:r>
          </a:p>
          <a:p>
            <a:pPr algn="l" marL="1851803" indent="-617268" lvl="2">
              <a:lnSpc>
                <a:spcPts val="5146"/>
              </a:lnSpc>
              <a:buFont typeface="Arial"/>
              <a:buChar char="⚬"/>
            </a:pPr>
            <a:r>
              <a:rPr lang="en-US" sz="4288">
                <a:solidFill>
                  <a:srgbClr val="2B4B82"/>
                </a:solidFill>
                <a:latin typeface="Josefin Sans"/>
                <a:ea typeface="Josefin Sans"/>
                <a:cs typeface="Josefin Sans"/>
                <a:sym typeface="Josefin Sans"/>
              </a:rPr>
              <a:t>Load model</a:t>
            </a:r>
            <a:r>
              <a:rPr lang="en-US" sz="4288">
                <a:solidFill>
                  <a:srgbClr val="2B4B82"/>
                </a:solidFill>
                <a:latin typeface="Josefin Sans"/>
                <a:ea typeface="Josefin Sans"/>
                <a:cs typeface="Josefin Sans"/>
                <a:sym typeface="Josefin Sans"/>
              </a:rPr>
              <a:t> nhận diện chữ số viết tay</a:t>
            </a:r>
          </a:p>
          <a:p>
            <a:pPr algn="l" marL="1851803" indent="-617268" lvl="2">
              <a:lnSpc>
                <a:spcPts val="5146"/>
              </a:lnSpc>
              <a:buFont typeface="Arial"/>
              <a:buChar char="⚬"/>
            </a:pPr>
            <a:r>
              <a:rPr lang="en-US" sz="4288">
                <a:solidFill>
                  <a:srgbClr val="2B4B82"/>
                </a:solidFill>
                <a:latin typeface="Josefin Sans"/>
                <a:ea typeface="Josefin Sans"/>
                <a:cs typeface="Josefin Sans"/>
                <a:sym typeface="Josefin Sans"/>
              </a:rPr>
              <a:t>Output là 1 trong các số từ 0-9</a:t>
            </a:r>
          </a:p>
          <a:p>
            <a:pPr algn="l" marL="1851803" indent="-617268" lvl="2">
              <a:lnSpc>
                <a:spcPts val="5146"/>
              </a:lnSpc>
              <a:buFont typeface="Arial"/>
              <a:buChar char="⚬"/>
            </a:pPr>
            <a:r>
              <a:rPr lang="en-US" sz="4288">
                <a:solidFill>
                  <a:srgbClr val="2B4B82"/>
                </a:solidFill>
                <a:latin typeface="Josefin Sans"/>
                <a:ea typeface="Josefin Sans"/>
                <a:cs typeface="Josefin Sans"/>
                <a:sym typeface="Josefin Sans"/>
              </a:rPr>
              <a:t>Lấy class có xác xuất cao nhất</a:t>
            </a:r>
          </a:p>
          <a:p>
            <a:pPr algn="l" marL="925901" indent="-462951" lvl="1">
              <a:lnSpc>
                <a:spcPts val="5146"/>
              </a:lnSpc>
              <a:buFont typeface="Arial"/>
              <a:buChar char="•"/>
            </a:pPr>
            <a:r>
              <a:rPr lang="en-US" sz="4288">
                <a:solidFill>
                  <a:srgbClr val="2B4B82"/>
                </a:solidFill>
                <a:latin typeface="Josefin Sans"/>
                <a:ea typeface="Josefin Sans"/>
                <a:cs typeface="Josefin Sans"/>
                <a:sym typeface="Josefin Sans"/>
              </a:rPr>
              <a:t>Nhận diện hình học cơ bản</a:t>
            </a:r>
          </a:p>
          <a:p>
            <a:pPr algn="l" marL="1851803" indent="-617268" lvl="2">
              <a:lnSpc>
                <a:spcPts val="5146"/>
              </a:lnSpc>
              <a:buFont typeface="Arial"/>
              <a:buChar char="⚬"/>
            </a:pPr>
            <a:r>
              <a:rPr lang="en-US" sz="4288">
                <a:solidFill>
                  <a:srgbClr val="2B4B82"/>
                </a:solidFill>
                <a:latin typeface="Josefin Sans"/>
                <a:ea typeface="Josefin Sans"/>
                <a:cs typeface="Josefin Sans"/>
                <a:sym typeface="Josefin Sans"/>
              </a:rPr>
              <a:t>Load model nhận diện hình học cơ bản</a:t>
            </a:r>
          </a:p>
          <a:p>
            <a:pPr algn="l" marL="1851803" indent="-617268" lvl="2">
              <a:lnSpc>
                <a:spcPts val="5146"/>
              </a:lnSpc>
              <a:buFont typeface="Arial"/>
              <a:buChar char="⚬"/>
            </a:pPr>
            <a:r>
              <a:rPr lang="en-US" sz="4288">
                <a:solidFill>
                  <a:srgbClr val="2B4B82"/>
                </a:solidFill>
                <a:latin typeface="Josefin Sans"/>
                <a:ea typeface="Josefin Sans"/>
                <a:cs typeface="Josefin Sans"/>
                <a:sym typeface="Josefin Sans"/>
              </a:rPr>
              <a:t>Áp dụng softmax với temperature scaling</a:t>
            </a:r>
          </a:p>
          <a:p>
            <a:pPr algn="l" marL="1851803" indent="-617268" lvl="2">
              <a:lnSpc>
                <a:spcPts val="5146"/>
              </a:lnSpc>
              <a:buFont typeface="Arial"/>
              <a:buChar char="⚬"/>
            </a:pPr>
            <a:r>
              <a:rPr lang="en-US" sz="4288">
                <a:solidFill>
                  <a:srgbClr val="2B4B82"/>
                </a:solidFill>
                <a:latin typeface="Josefin Sans"/>
                <a:ea typeface="Josefin Sans"/>
                <a:cs typeface="Josefin Sans"/>
                <a:sym typeface="Josefin Sans"/>
              </a:rPr>
              <a:t>Lấy class có xác xuất cao nhất</a:t>
            </a:r>
          </a:p>
          <a:p>
            <a:pPr algn="l">
              <a:lnSpc>
                <a:spcPts val="5146"/>
              </a:lnSpc>
            </a:pPr>
          </a:p>
          <a:p>
            <a:pPr algn="l">
              <a:lnSpc>
                <a:spcPts val="5146"/>
              </a:lnSpc>
            </a:pPr>
          </a:p>
          <a:p>
            <a:pPr algn="l">
              <a:lnSpc>
                <a:spcPts val="5146"/>
              </a:lnSpc>
            </a:pPr>
          </a:p>
          <a:p>
            <a:pPr algn="l">
              <a:lnSpc>
                <a:spcPts val="5146"/>
              </a:lnSpc>
            </a:pP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94DDDE"/>
        </a:solidFill>
      </p:bgPr>
    </p:bg>
    <p:spTree>
      <p:nvGrpSpPr>
        <p:cNvPr id="1" name=""/>
        <p:cNvGrpSpPr/>
        <p:nvPr/>
      </p:nvGrpSpPr>
      <p:grpSpPr>
        <a:xfrm>
          <a:off x="0" y="0"/>
          <a:ext cx="0" cy="0"/>
          <a:chOff x="0" y="0"/>
          <a:chExt cx="0" cy="0"/>
        </a:xfrm>
      </p:grpSpPr>
      <p:sp>
        <p:nvSpPr>
          <p:cNvPr name="Freeform 2" id="2"/>
          <p:cNvSpPr/>
          <p:nvPr/>
        </p:nvSpPr>
        <p:spPr>
          <a:xfrm flipH="false" flipV="false" rot="0">
            <a:off x="11834182" y="1885992"/>
            <a:ext cx="4361077" cy="5936758"/>
          </a:xfrm>
          <a:custGeom>
            <a:avLst/>
            <a:gdLst/>
            <a:ahLst/>
            <a:cxnLst/>
            <a:rect r="r" b="b" t="t" l="l"/>
            <a:pathLst>
              <a:path h="5936758" w="4361077">
                <a:moveTo>
                  <a:pt x="0" y="0"/>
                </a:moveTo>
                <a:lnTo>
                  <a:pt x="4361077" y="0"/>
                </a:lnTo>
                <a:lnTo>
                  <a:pt x="4361077" y="5936757"/>
                </a:lnTo>
                <a:lnTo>
                  <a:pt x="0" y="5936757"/>
                </a:lnTo>
                <a:lnTo>
                  <a:pt x="0" y="0"/>
                </a:lnTo>
                <a:close/>
              </a:path>
            </a:pathLst>
          </a:custGeom>
          <a:blipFill>
            <a:blip r:embed="rId2"/>
            <a:stretch>
              <a:fillRect l="0" t="0" r="0" b="0"/>
            </a:stretch>
          </a:blipFill>
        </p:spPr>
      </p:sp>
      <p:sp>
        <p:nvSpPr>
          <p:cNvPr name="TextBox 3" id="3"/>
          <p:cNvSpPr txBox="true"/>
          <p:nvPr/>
        </p:nvSpPr>
        <p:spPr>
          <a:xfrm rot="0">
            <a:off x="1028700" y="1240805"/>
            <a:ext cx="9768230" cy="990600"/>
          </a:xfrm>
          <a:prstGeom prst="rect">
            <a:avLst/>
          </a:prstGeom>
        </p:spPr>
        <p:txBody>
          <a:bodyPr anchor="t" rtlCol="false" tIns="0" lIns="0" bIns="0" rIns="0">
            <a:spAutoFit/>
          </a:bodyPr>
          <a:lstStyle/>
          <a:p>
            <a:pPr algn="l">
              <a:lnSpc>
                <a:spcPts val="7680"/>
              </a:lnSpc>
            </a:pPr>
            <a:r>
              <a:rPr lang="en-US" sz="6400">
                <a:solidFill>
                  <a:srgbClr val="31356E"/>
                </a:solidFill>
                <a:latin typeface="Josefin Sans"/>
                <a:ea typeface="Josefin Sans"/>
                <a:cs typeface="Josefin Sans"/>
                <a:sym typeface="Josefin Sans"/>
              </a:rPr>
              <a:t>Hiển thị kết quả</a:t>
            </a:r>
          </a:p>
        </p:txBody>
      </p:sp>
      <p:sp>
        <p:nvSpPr>
          <p:cNvPr name="TextBox 4" id="4"/>
          <p:cNvSpPr txBox="true"/>
          <p:nvPr/>
        </p:nvSpPr>
        <p:spPr>
          <a:xfrm rot="0">
            <a:off x="1097521" y="3296078"/>
            <a:ext cx="9699409" cy="3685318"/>
          </a:xfrm>
          <a:prstGeom prst="rect">
            <a:avLst/>
          </a:prstGeom>
        </p:spPr>
        <p:txBody>
          <a:bodyPr anchor="t" rtlCol="false" tIns="0" lIns="0" bIns="0" rIns="0">
            <a:spAutoFit/>
          </a:bodyPr>
          <a:lstStyle/>
          <a:p>
            <a:pPr algn="l">
              <a:lnSpc>
                <a:spcPts val="4170"/>
              </a:lnSpc>
            </a:pPr>
            <a:r>
              <a:rPr lang="en-US" sz="3475">
                <a:solidFill>
                  <a:srgbClr val="2B4B82"/>
                </a:solidFill>
                <a:latin typeface="Josefin Sans"/>
                <a:ea typeface="Josefin Sans"/>
                <a:cs typeface="Josefin Sans"/>
                <a:sym typeface="Josefin Sans"/>
              </a:rPr>
              <a:t>Kết quả nhận diện sẽ hiển thị top 3 lớp có tỷ lệ % nhận diện cao nhất, lớp nào có tỷ lệ % cao nhất sẽ là kết quả dự đoán cuối cùng</a:t>
            </a:r>
          </a:p>
          <a:p>
            <a:pPr algn="l">
              <a:lnSpc>
                <a:spcPts val="4170"/>
              </a:lnSpc>
            </a:pPr>
          </a:p>
          <a:p>
            <a:pPr algn="l">
              <a:lnSpc>
                <a:spcPts val="4170"/>
              </a:lnSpc>
            </a:pPr>
          </a:p>
          <a:p>
            <a:pPr algn="l">
              <a:lnSpc>
                <a:spcPts val="4170"/>
              </a:lnSpc>
            </a:pPr>
          </a:p>
          <a:p>
            <a:pPr algn="l">
              <a:lnSpc>
                <a:spcPts val="4170"/>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DAG4TMO_-6k</dc:identifier>
  <dcterms:modified xsi:type="dcterms:W3CDTF">2011-08-01T06:04:30Z</dcterms:modified>
  <cp:revision>1</cp:revision>
  <dc:title>NHẬN DIỆN CHỮ SỐ VIẾT TAY VÀ HÌNH DẠNG CƠ BẢN</dc:title>
</cp:coreProperties>
</file>